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Rugrats Sans" charset="1" panose="00000000000000000000"/>
      <p:regular r:id="rId15"/>
    </p:embeddedFont>
    <p:embeddedFont>
      <p:font typeface="Antonio" charset="1" panose="02000503000000000000"/>
      <p:regular r:id="rId16"/>
    </p:embeddedFont>
    <p:embeddedFont>
      <p:font typeface="Antonio Bold" charset="1" panose="02000803000000000000"/>
      <p:regular r:id="rId17"/>
    </p:embeddedFont>
    <p:embeddedFont>
      <p:font typeface="Canva Sans" charset="1" panose="020B0503030501040103"/>
      <p:regular r:id="rId18"/>
    </p:embeddedFont>
    <p:embeddedFont>
      <p:font typeface="Canva Sans Bold" charset="1" panose="020B08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55666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pic>
          <p:nvPicPr>
            <p:cNvPr name="Picture 3" id="3"/>
            <p:cNvPicPr>
              <a:picLocks noChangeAspect="true"/>
            </p:cNvPicPr>
            <p:nvPr/>
          </p:nvPicPr>
          <p:blipFill>
            <a:blip r:embed="rId2"/>
            <a:srcRect l="0" t="32502" r="0" b="29950"/>
            <a:stretch>
              <a:fillRect/>
            </a:stretch>
          </p:blipFill>
          <p:spPr>
            <a:xfrm flipH="false" flipV="false">
              <a:off x="0" y="0"/>
              <a:ext cx="24384000" cy="13716000"/>
            </a:xfrm>
            <a:prstGeom prst="rect">
              <a:avLst/>
            </a:prstGeom>
          </p:spPr>
        </p:pic>
      </p:grpSp>
      <p:grpSp>
        <p:nvGrpSpPr>
          <p:cNvPr name="Group 4" id="4"/>
          <p:cNvGrpSpPr/>
          <p:nvPr/>
        </p:nvGrpSpPr>
        <p:grpSpPr>
          <a:xfrm rot="0">
            <a:off x="16940388" y="0"/>
            <a:ext cx="1347612" cy="10287000"/>
            <a:chOff x="0" y="0"/>
            <a:chExt cx="354927" cy="2709333"/>
          </a:xfrm>
        </p:grpSpPr>
        <p:sp>
          <p:nvSpPr>
            <p:cNvPr name="Freeform 5" id="5"/>
            <p:cNvSpPr/>
            <p:nvPr/>
          </p:nvSpPr>
          <p:spPr>
            <a:xfrm flipH="false" flipV="false" rot="0">
              <a:off x="0" y="0"/>
              <a:ext cx="354927" cy="2709333"/>
            </a:xfrm>
            <a:custGeom>
              <a:avLst/>
              <a:gdLst/>
              <a:ahLst/>
              <a:cxnLst/>
              <a:rect r="r" b="b" t="t" l="l"/>
              <a:pathLst>
                <a:path h="2709333" w="354927">
                  <a:moveTo>
                    <a:pt x="0" y="0"/>
                  </a:moveTo>
                  <a:lnTo>
                    <a:pt x="354927" y="0"/>
                  </a:lnTo>
                  <a:lnTo>
                    <a:pt x="354927" y="2709333"/>
                  </a:lnTo>
                  <a:lnTo>
                    <a:pt x="0" y="2709333"/>
                  </a:lnTo>
                  <a:close/>
                </a:path>
              </a:pathLst>
            </a:custGeom>
            <a:solidFill>
              <a:srgbClr val="D9EDB7"/>
            </a:solidFill>
          </p:spPr>
        </p:sp>
        <p:sp>
          <p:nvSpPr>
            <p:cNvPr name="TextBox 6" id="6"/>
            <p:cNvSpPr txBox="true"/>
            <p:nvPr/>
          </p:nvSpPr>
          <p:spPr>
            <a:xfrm>
              <a:off x="0" y="-95250"/>
              <a:ext cx="354927" cy="2804583"/>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0" y="0"/>
            <a:ext cx="6254750" cy="10287000"/>
            <a:chOff x="0" y="0"/>
            <a:chExt cx="1647342" cy="2709333"/>
          </a:xfrm>
        </p:grpSpPr>
        <p:sp>
          <p:nvSpPr>
            <p:cNvPr name="Freeform 8" id="8"/>
            <p:cNvSpPr/>
            <p:nvPr/>
          </p:nvSpPr>
          <p:spPr>
            <a:xfrm flipH="false" flipV="false" rot="0">
              <a:off x="0" y="0"/>
              <a:ext cx="1647342" cy="2709333"/>
            </a:xfrm>
            <a:custGeom>
              <a:avLst/>
              <a:gdLst/>
              <a:ahLst/>
              <a:cxnLst/>
              <a:rect r="r" b="b" t="t" l="l"/>
              <a:pathLst>
                <a:path h="2709333" w="1647342">
                  <a:moveTo>
                    <a:pt x="0" y="0"/>
                  </a:moveTo>
                  <a:lnTo>
                    <a:pt x="1647342" y="0"/>
                  </a:lnTo>
                  <a:lnTo>
                    <a:pt x="1647342" y="2709333"/>
                  </a:lnTo>
                  <a:lnTo>
                    <a:pt x="0" y="2709333"/>
                  </a:lnTo>
                  <a:close/>
                </a:path>
              </a:pathLst>
            </a:custGeom>
            <a:solidFill>
              <a:srgbClr val="55666D"/>
            </a:solidFill>
          </p:spPr>
        </p:sp>
        <p:sp>
          <p:nvSpPr>
            <p:cNvPr name="TextBox 9" id="9"/>
            <p:cNvSpPr txBox="true"/>
            <p:nvPr/>
          </p:nvSpPr>
          <p:spPr>
            <a:xfrm>
              <a:off x="0" y="-95250"/>
              <a:ext cx="1647342" cy="2804583"/>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285750" y="285750"/>
            <a:ext cx="2043992" cy="529106"/>
            <a:chOff x="0" y="0"/>
            <a:chExt cx="538335" cy="139353"/>
          </a:xfrm>
        </p:grpSpPr>
        <p:sp>
          <p:nvSpPr>
            <p:cNvPr name="Freeform 11" id="11"/>
            <p:cNvSpPr/>
            <p:nvPr/>
          </p:nvSpPr>
          <p:spPr>
            <a:xfrm flipH="false" flipV="false" rot="0">
              <a:off x="0" y="0"/>
              <a:ext cx="538335" cy="139353"/>
            </a:xfrm>
            <a:custGeom>
              <a:avLst/>
              <a:gdLst/>
              <a:ahLst/>
              <a:cxnLst/>
              <a:rect r="r" b="b" t="t" l="l"/>
              <a:pathLst>
                <a:path h="139353" w="538335">
                  <a:moveTo>
                    <a:pt x="0" y="0"/>
                  </a:moveTo>
                  <a:lnTo>
                    <a:pt x="538335" y="0"/>
                  </a:lnTo>
                  <a:lnTo>
                    <a:pt x="538335" y="139353"/>
                  </a:lnTo>
                  <a:lnTo>
                    <a:pt x="0" y="139353"/>
                  </a:lnTo>
                  <a:close/>
                </a:path>
              </a:pathLst>
            </a:custGeom>
            <a:solidFill>
              <a:srgbClr val="D9EDB7"/>
            </a:solidFill>
          </p:spPr>
        </p:sp>
        <p:sp>
          <p:nvSpPr>
            <p:cNvPr name="TextBox 12" id="12"/>
            <p:cNvSpPr txBox="true"/>
            <p:nvPr/>
          </p:nvSpPr>
          <p:spPr>
            <a:xfrm>
              <a:off x="0" y="-95250"/>
              <a:ext cx="538335" cy="234603"/>
            </a:xfrm>
            <a:prstGeom prst="rect">
              <a:avLst/>
            </a:prstGeom>
          </p:spPr>
          <p:txBody>
            <a:bodyPr anchor="ctr" rtlCol="false" tIns="50800" lIns="50800" bIns="50800" rIns="50800"/>
            <a:lstStyle/>
            <a:p>
              <a:pPr algn="ctr">
                <a:lnSpc>
                  <a:spcPts val="2659"/>
                </a:lnSpc>
              </a:pPr>
              <a:r>
                <a:rPr lang="en-US" sz="1899">
                  <a:solidFill>
                    <a:srgbClr val="55666D"/>
                  </a:solidFill>
                  <a:latin typeface="Rugrats Sans"/>
                  <a:ea typeface="Rugrats Sans"/>
                  <a:cs typeface="Rugrats Sans"/>
                  <a:sym typeface="Rugrats Sans"/>
                </a:rPr>
                <a:t>DecodeLabs</a:t>
              </a:r>
            </a:p>
          </p:txBody>
        </p:sp>
      </p:grpSp>
      <p:sp>
        <p:nvSpPr>
          <p:cNvPr name="Freeform 13" id="13"/>
          <p:cNvSpPr/>
          <p:nvPr/>
        </p:nvSpPr>
        <p:spPr>
          <a:xfrm flipH="false" flipV="false" rot="0">
            <a:off x="11523893" y="7292119"/>
            <a:ext cx="6478357" cy="2709131"/>
          </a:xfrm>
          <a:custGeom>
            <a:avLst/>
            <a:gdLst/>
            <a:ahLst/>
            <a:cxnLst/>
            <a:rect r="r" b="b" t="t" l="l"/>
            <a:pathLst>
              <a:path h="2709131" w="6478357">
                <a:moveTo>
                  <a:pt x="0" y="0"/>
                </a:moveTo>
                <a:lnTo>
                  <a:pt x="6478357" y="0"/>
                </a:lnTo>
                <a:lnTo>
                  <a:pt x="6478357" y="2709131"/>
                </a:lnTo>
                <a:lnTo>
                  <a:pt x="0" y="27091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285687" y="3235325"/>
            <a:ext cx="4814446" cy="2796877"/>
          </a:xfrm>
          <a:prstGeom prst="rect">
            <a:avLst/>
          </a:prstGeom>
        </p:spPr>
        <p:txBody>
          <a:bodyPr anchor="t" rtlCol="false" tIns="0" lIns="0" bIns="0" rIns="0">
            <a:spAutoFit/>
          </a:bodyPr>
          <a:lstStyle/>
          <a:p>
            <a:pPr algn="l">
              <a:lnSpc>
                <a:spcPts val="11216"/>
              </a:lnSpc>
              <a:spcBef>
                <a:spcPct val="0"/>
              </a:spcBef>
            </a:pPr>
            <a:r>
              <a:rPr lang="en-US" sz="8011" spc="-504">
                <a:solidFill>
                  <a:srgbClr val="D9EDB7"/>
                </a:solidFill>
                <a:latin typeface="Antonio"/>
                <a:ea typeface="Antonio"/>
                <a:cs typeface="Antonio"/>
                <a:sym typeface="Antonio"/>
              </a:rPr>
              <a:t>UI/UX INTERNSHIP</a:t>
            </a:r>
          </a:p>
        </p:txBody>
      </p:sp>
      <p:sp>
        <p:nvSpPr>
          <p:cNvPr name="TextBox 15" id="15"/>
          <p:cNvSpPr txBox="true"/>
          <p:nvPr/>
        </p:nvSpPr>
        <p:spPr>
          <a:xfrm rot="0">
            <a:off x="11810627" y="95250"/>
            <a:ext cx="5803567" cy="3532992"/>
          </a:xfrm>
          <a:prstGeom prst="rect">
            <a:avLst/>
          </a:prstGeom>
        </p:spPr>
        <p:txBody>
          <a:bodyPr anchor="t" rtlCol="false" tIns="0" lIns="0" bIns="0" rIns="0">
            <a:spAutoFit/>
          </a:bodyPr>
          <a:lstStyle/>
          <a:p>
            <a:pPr algn="r">
              <a:lnSpc>
                <a:spcPts val="14218"/>
              </a:lnSpc>
              <a:spcBef>
                <a:spcPct val="0"/>
              </a:spcBef>
            </a:pPr>
            <a:r>
              <a:rPr lang="en-US" b="true" sz="10155" spc="-853">
                <a:solidFill>
                  <a:srgbClr val="55666D"/>
                </a:solidFill>
                <a:latin typeface="Antonio Bold"/>
                <a:ea typeface="Antonio Bold"/>
                <a:cs typeface="Antonio Bold"/>
                <a:sym typeface="Antonio Bold"/>
              </a:rPr>
              <a:t>THE EMPATHY MAP</a:t>
            </a:r>
          </a:p>
        </p:txBody>
      </p:sp>
      <p:sp>
        <p:nvSpPr>
          <p:cNvPr name="TextBox 16" id="16"/>
          <p:cNvSpPr txBox="true"/>
          <p:nvPr/>
        </p:nvSpPr>
        <p:spPr>
          <a:xfrm rot="0">
            <a:off x="11496216" y="4358055"/>
            <a:ext cx="6432389" cy="4288629"/>
          </a:xfrm>
          <a:prstGeom prst="rect">
            <a:avLst/>
          </a:prstGeom>
        </p:spPr>
        <p:txBody>
          <a:bodyPr anchor="t" rtlCol="false" tIns="0" lIns="0" bIns="0" rIns="0">
            <a:spAutoFit/>
          </a:bodyPr>
          <a:lstStyle/>
          <a:p>
            <a:pPr algn="r">
              <a:lnSpc>
                <a:spcPts val="11418"/>
              </a:lnSpc>
              <a:spcBef>
                <a:spcPct val="0"/>
              </a:spcBef>
            </a:pPr>
            <a:r>
              <a:rPr lang="en-US" b="true" sz="8156" spc="-685">
                <a:solidFill>
                  <a:srgbClr val="55666D"/>
                </a:solidFill>
                <a:latin typeface="Antonio Bold"/>
                <a:ea typeface="Antonio Bold"/>
                <a:cs typeface="Antonio Bold"/>
                <a:sym typeface="Antonio Bold"/>
              </a:rPr>
              <a:t>FITNESS APP FOR BUSY OFFICE PROFESSIONALS</a:t>
            </a:r>
          </a:p>
        </p:txBody>
      </p:sp>
      <p:sp>
        <p:nvSpPr>
          <p:cNvPr name="TextBox 17" id="17"/>
          <p:cNvSpPr txBox="true"/>
          <p:nvPr/>
        </p:nvSpPr>
        <p:spPr>
          <a:xfrm rot="0">
            <a:off x="566437" y="7130194"/>
            <a:ext cx="5121877" cy="1275716"/>
          </a:xfrm>
          <a:prstGeom prst="rect">
            <a:avLst/>
          </a:prstGeom>
        </p:spPr>
        <p:txBody>
          <a:bodyPr anchor="t" rtlCol="false" tIns="0" lIns="0" bIns="0" rIns="0">
            <a:spAutoFit/>
          </a:bodyPr>
          <a:lstStyle/>
          <a:p>
            <a:pPr algn="just">
              <a:lnSpc>
                <a:spcPts val="4759"/>
              </a:lnSpc>
            </a:pPr>
            <a:r>
              <a:rPr lang="en-US" sz="3399">
                <a:solidFill>
                  <a:srgbClr val="D9EDB7"/>
                </a:solidFill>
                <a:latin typeface="Rugrats Sans"/>
                <a:ea typeface="Rugrats Sans"/>
                <a:cs typeface="Rugrats Sans"/>
                <a:sym typeface="Rugrats Sans"/>
              </a:rPr>
              <a:t>Baseerat Ghazanfar</a:t>
            </a:r>
          </a:p>
          <a:p>
            <a:pPr algn="just">
              <a:lnSpc>
                <a:spcPts val="4759"/>
              </a:lnSpc>
              <a:spcBef>
                <a:spcPct val="0"/>
              </a:spcBef>
            </a:pPr>
            <a:r>
              <a:rPr lang="en-US" sz="3399">
                <a:solidFill>
                  <a:srgbClr val="D9EDB7"/>
                </a:solidFill>
                <a:latin typeface="Rugrats Sans"/>
                <a:ea typeface="Rugrats Sans"/>
                <a:cs typeface="Rugrats Sans"/>
                <a:sym typeface="Rugrats Sans"/>
              </a:rPr>
              <a:t>(biyahere5168@gmail.com)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4257" y="285750"/>
            <a:ext cx="9022710" cy="9715500"/>
            <a:chOff x="0" y="0"/>
            <a:chExt cx="12030281" cy="12954000"/>
          </a:xfrm>
        </p:grpSpPr>
        <p:pic>
          <p:nvPicPr>
            <p:cNvPr name="Picture 3" id="3"/>
            <p:cNvPicPr>
              <a:picLocks noChangeAspect="true"/>
            </p:cNvPicPr>
            <p:nvPr/>
          </p:nvPicPr>
          <p:blipFill>
            <a:blip r:embed="rId2"/>
            <a:srcRect l="19004" t="0" r="19004" b="0"/>
            <a:stretch>
              <a:fillRect/>
            </a:stretch>
          </p:blipFill>
          <p:spPr>
            <a:xfrm flipH="false" flipV="false">
              <a:off x="0" y="0"/>
              <a:ext cx="12030281" cy="12954000"/>
            </a:xfrm>
            <a:prstGeom prst="rect">
              <a:avLst/>
            </a:prstGeom>
          </p:spPr>
        </p:pic>
      </p:grpSp>
      <p:sp>
        <p:nvSpPr>
          <p:cNvPr name="TextBox 4" id="4"/>
          <p:cNvSpPr txBox="true"/>
          <p:nvPr/>
        </p:nvSpPr>
        <p:spPr>
          <a:xfrm rot="0">
            <a:off x="11174447" y="1314450"/>
            <a:ext cx="6084853" cy="1411116"/>
          </a:xfrm>
          <a:prstGeom prst="rect">
            <a:avLst/>
          </a:prstGeom>
        </p:spPr>
        <p:txBody>
          <a:bodyPr anchor="t" rtlCol="false" tIns="0" lIns="0" bIns="0" rIns="0">
            <a:spAutoFit/>
          </a:bodyPr>
          <a:lstStyle/>
          <a:p>
            <a:pPr algn="l" marL="0" indent="0" lvl="0">
              <a:lnSpc>
                <a:spcPts val="10467"/>
              </a:lnSpc>
            </a:pPr>
            <a:r>
              <a:rPr lang="en-US" b="true" sz="11135" spc="-824">
                <a:solidFill>
                  <a:srgbClr val="080606"/>
                </a:solidFill>
                <a:latin typeface="Antonio Bold"/>
                <a:ea typeface="Antonio Bold"/>
                <a:cs typeface="Antonio Bold"/>
                <a:sym typeface="Antonio Bold"/>
              </a:rPr>
              <a:t>SCENARIO</a:t>
            </a:r>
          </a:p>
        </p:txBody>
      </p:sp>
      <p:sp>
        <p:nvSpPr>
          <p:cNvPr name="TextBox 5" id="5"/>
          <p:cNvSpPr txBox="true"/>
          <p:nvPr/>
        </p:nvSpPr>
        <p:spPr>
          <a:xfrm rot="0">
            <a:off x="10564231" y="4252417"/>
            <a:ext cx="6695069" cy="5007678"/>
          </a:xfrm>
          <a:prstGeom prst="rect">
            <a:avLst/>
          </a:prstGeom>
        </p:spPr>
        <p:txBody>
          <a:bodyPr anchor="t" rtlCol="false" tIns="0" lIns="0" bIns="0" rIns="0">
            <a:spAutoFit/>
          </a:bodyPr>
          <a:lstStyle/>
          <a:p>
            <a:pPr algn="l">
              <a:lnSpc>
                <a:spcPts val="4402"/>
              </a:lnSpc>
            </a:pPr>
            <a:r>
              <a:rPr lang="en-US" sz="4402">
                <a:solidFill>
                  <a:srgbClr val="080606"/>
                </a:solidFill>
                <a:latin typeface="Canva Sans"/>
                <a:ea typeface="Canva Sans"/>
                <a:cs typeface="Canva Sans"/>
                <a:sym typeface="Canva Sans"/>
              </a:rPr>
              <a:t>A new fitness startup wants to launch an app for busy office professionals who struggle to find time for exercise. The goal is to understand user pain points before designing the app.</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9EDB7"/>
        </a:solidFill>
      </p:bgPr>
    </p:bg>
    <p:spTree>
      <p:nvGrpSpPr>
        <p:cNvPr id="1" name=""/>
        <p:cNvGrpSpPr/>
        <p:nvPr/>
      </p:nvGrpSpPr>
      <p:grpSpPr>
        <a:xfrm>
          <a:off x="0" y="0"/>
          <a:ext cx="0" cy="0"/>
          <a:chOff x="0" y="0"/>
          <a:chExt cx="0" cy="0"/>
        </a:xfrm>
      </p:grpSpPr>
      <p:sp>
        <p:nvSpPr>
          <p:cNvPr name="Freeform 2" id="2"/>
          <p:cNvSpPr/>
          <p:nvPr/>
        </p:nvSpPr>
        <p:spPr>
          <a:xfrm flipH="false" flipV="false" rot="0">
            <a:off x="6063550" y="3410355"/>
            <a:ext cx="6468129" cy="5599123"/>
          </a:xfrm>
          <a:custGeom>
            <a:avLst/>
            <a:gdLst/>
            <a:ahLst/>
            <a:cxnLst/>
            <a:rect r="r" b="b" t="t" l="l"/>
            <a:pathLst>
              <a:path h="5599123" w="6468129">
                <a:moveTo>
                  <a:pt x="0" y="0"/>
                </a:moveTo>
                <a:lnTo>
                  <a:pt x="6468129" y="0"/>
                </a:lnTo>
                <a:lnTo>
                  <a:pt x="6468129" y="5599123"/>
                </a:lnTo>
                <a:lnTo>
                  <a:pt x="0" y="5599123"/>
                </a:lnTo>
                <a:lnTo>
                  <a:pt x="0" y="0"/>
                </a:lnTo>
                <a:close/>
              </a:path>
            </a:pathLst>
          </a:custGeom>
          <a:blipFill>
            <a:blip r:embed="rId2"/>
            <a:stretch>
              <a:fillRect l="-7180" t="0" r="-7180" b="-5991"/>
            </a:stretch>
          </a:blipFill>
        </p:spPr>
      </p:sp>
      <p:sp>
        <p:nvSpPr>
          <p:cNvPr name="TextBox 3" id="3"/>
          <p:cNvSpPr txBox="true"/>
          <p:nvPr/>
        </p:nvSpPr>
        <p:spPr>
          <a:xfrm rot="0">
            <a:off x="3396911" y="226580"/>
            <a:ext cx="11833012" cy="2436386"/>
          </a:xfrm>
          <a:prstGeom prst="rect">
            <a:avLst/>
          </a:prstGeom>
        </p:spPr>
        <p:txBody>
          <a:bodyPr anchor="t" rtlCol="false" tIns="0" lIns="0" bIns="0" rIns="0">
            <a:spAutoFit/>
          </a:bodyPr>
          <a:lstStyle/>
          <a:p>
            <a:pPr algn="l" marL="0" indent="0" lvl="0">
              <a:lnSpc>
                <a:spcPts val="19115"/>
              </a:lnSpc>
              <a:spcBef>
                <a:spcPct val="0"/>
              </a:spcBef>
            </a:pPr>
            <a:r>
              <a:rPr lang="en-US" b="true" sz="16478" spc="-692">
                <a:solidFill>
                  <a:srgbClr val="080606"/>
                </a:solidFill>
                <a:latin typeface="Antonio Bold"/>
                <a:ea typeface="Antonio Bold"/>
                <a:cs typeface="Antonio Bold"/>
                <a:sym typeface="Antonio Bold"/>
              </a:rPr>
              <a:t>TARGET AUDIENCE</a:t>
            </a:r>
          </a:p>
        </p:txBody>
      </p:sp>
      <p:sp>
        <p:nvSpPr>
          <p:cNvPr name="TextBox 4" id="4"/>
          <p:cNvSpPr txBox="true"/>
          <p:nvPr/>
        </p:nvSpPr>
        <p:spPr>
          <a:xfrm rot="0">
            <a:off x="1513061" y="2919182"/>
            <a:ext cx="3693616" cy="887095"/>
          </a:xfrm>
          <a:prstGeom prst="rect">
            <a:avLst/>
          </a:prstGeom>
        </p:spPr>
        <p:txBody>
          <a:bodyPr anchor="t" rtlCol="false" tIns="0" lIns="0" bIns="0" rIns="0">
            <a:spAutoFit/>
          </a:bodyPr>
          <a:lstStyle/>
          <a:p>
            <a:pPr algn="ctr">
              <a:lnSpc>
                <a:spcPts val="7279"/>
              </a:lnSpc>
            </a:pPr>
            <a:r>
              <a:rPr lang="en-US" sz="5199" b="true">
                <a:solidFill>
                  <a:srgbClr val="080606"/>
                </a:solidFill>
                <a:latin typeface="Antonio Bold"/>
                <a:ea typeface="Antonio Bold"/>
                <a:cs typeface="Antonio Bold"/>
                <a:sym typeface="Antonio Bold"/>
              </a:rPr>
              <a:t>Demographics</a:t>
            </a:r>
          </a:p>
        </p:txBody>
      </p:sp>
      <p:sp>
        <p:nvSpPr>
          <p:cNvPr name="TextBox 5" id="5"/>
          <p:cNvSpPr txBox="true"/>
          <p:nvPr/>
        </p:nvSpPr>
        <p:spPr>
          <a:xfrm rot="0">
            <a:off x="13965256" y="2919182"/>
            <a:ext cx="2529334" cy="887095"/>
          </a:xfrm>
          <a:prstGeom prst="rect">
            <a:avLst/>
          </a:prstGeom>
        </p:spPr>
        <p:txBody>
          <a:bodyPr anchor="t" rtlCol="false" tIns="0" lIns="0" bIns="0" rIns="0">
            <a:spAutoFit/>
          </a:bodyPr>
          <a:lstStyle/>
          <a:p>
            <a:pPr algn="ctr">
              <a:lnSpc>
                <a:spcPts val="7279"/>
              </a:lnSpc>
            </a:pPr>
            <a:r>
              <a:rPr lang="en-US" sz="5199" b="true">
                <a:solidFill>
                  <a:srgbClr val="080606"/>
                </a:solidFill>
                <a:latin typeface="Antonio Bold"/>
                <a:ea typeface="Antonio Bold"/>
                <a:cs typeface="Antonio Bold"/>
                <a:sym typeface="Antonio Bold"/>
              </a:rPr>
              <a:t>Behaviors</a:t>
            </a:r>
          </a:p>
        </p:txBody>
      </p:sp>
      <p:sp>
        <p:nvSpPr>
          <p:cNvPr name="TextBox 6" id="6"/>
          <p:cNvSpPr txBox="true"/>
          <p:nvPr/>
        </p:nvSpPr>
        <p:spPr>
          <a:xfrm rot="0">
            <a:off x="1238473" y="4101552"/>
            <a:ext cx="4242792" cy="5895920"/>
          </a:xfrm>
          <a:prstGeom prst="rect">
            <a:avLst/>
          </a:prstGeom>
        </p:spPr>
        <p:txBody>
          <a:bodyPr anchor="t" rtlCol="false" tIns="0" lIns="0" bIns="0" rIns="0">
            <a:spAutoFit/>
          </a:bodyPr>
          <a:lstStyle/>
          <a:p>
            <a:pPr algn="l">
              <a:lnSpc>
                <a:spcPts val="3813"/>
              </a:lnSpc>
            </a:pPr>
            <a:r>
              <a:rPr lang="en-US" b="true" sz="2723">
                <a:solidFill>
                  <a:srgbClr val="080606"/>
                </a:solidFill>
                <a:latin typeface="Canva Sans Bold"/>
                <a:ea typeface="Canva Sans Bold"/>
                <a:cs typeface="Canva Sans Bold"/>
                <a:sym typeface="Canva Sans Bold"/>
              </a:rPr>
              <a:t>Age Group :</a:t>
            </a:r>
          </a:p>
          <a:p>
            <a:pPr algn="l" marL="546393" indent="-273197" lvl="1">
              <a:lnSpc>
                <a:spcPts val="3543"/>
              </a:lnSpc>
              <a:buFont typeface="Arial"/>
              <a:buChar char="•"/>
            </a:pPr>
            <a:r>
              <a:rPr lang="en-US" sz="2530">
                <a:solidFill>
                  <a:srgbClr val="080606"/>
                </a:solidFill>
                <a:latin typeface="Canva Sans"/>
                <a:ea typeface="Canva Sans"/>
                <a:cs typeface="Canva Sans"/>
                <a:sym typeface="Canva Sans"/>
              </a:rPr>
              <a:t>24–40 years</a:t>
            </a:r>
          </a:p>
          <a:p>
            <a:pPr algn="l">
              <a:lnSpc>
                <a:spcPts val="3813"/>
              </a:lnSpc>
            </a:pPr>
            <a:r>
              <a:rPr lang="en-US" b="true" sz="2723">
                <a:solidFill>
                  <a:srgbClr val="080606"/>
                </a:solidFill>
                <a:latin typeface="Canva Sans Bold"/>
                <a:ea typeface="Canva Sans Bold"/>
                <a:cs typeface="Canva Sans Bold"/>
                <a:sym typeface="Canva Sans Bold"/>
              </a:rPr>
              <a:t>Occupation:</a:t>
            </a:r>
          </a:p>
          <a:p>
            <a:pPr algn="l" marL="546393" indent="-273197" lvl="1">
              <a:lnSpc>
                <a:spcPts val="3543"/>
              </a:lnSpc>
              <a:buFont typeface="Arial"/>
              <a:buChar char="•"/>
            </a:pPr>
            <a:r>
              <a:rPr lang="en-US" sz="2530">
                <a:solidFill>
                  <a:srgbClr val="080606"/>
                </a:solidFill>
                <a:latin typeface="Canva Sans"/>
                <a:ea typeface="Canva Sans"/>
                <a:cs typeface="Canva Sans"/>
                <a:sym typeface="Canva Sans"/>
              </a:rPr>
              <a:t>Office workers</a:t>
            </a:r>
          </a:p>
          <a:p>
            <a:pPr algn="l" marL="546393" indent="-273197" lvl="1">
              <a:lnSpc>
                <a:spcPts val="3543"/>
              </a:lnSpc>
              <a:buFont typeface="Arial"/>
              <a:buChar char="•"/>
            </a:pPr>
            <a:r>
              <a:rPr lang="en-US" sz="2530">
                <a:solidFill>
                  <a:srgbClr val="080606"/>
                </a:solidFill>
                <a:latin typeface="Canva Sans"/>
                <a:ea typeface="Canva Sans"/>
                <a:cs typeface="Canva Sans"/>
                <a:sym typeface="Canva Sans"/>
              </a:rPr>
              <a:t>Software engineer</a:t>
            </a:r>
            <a:r>
              <a:rPr lang="en-US" sz="2530">
                <a:solidFill>
                  <a:srgbClr val="080606"/>
                </a:solidFill>
                <a:latin typeface="Canva Sans"/>
                <a:ea typeface="Canva Sans"/>
                <a:cs typeface="Canva Sans"/>
                <a:sym typeface="Canva Sans"/>
              </a:rPr>
              <a:t>s</a:t>
            </a:r>
          </a:p>
          <a:p>
            <a:pPr algn="l" marL="546393" indent="-273197" lvl="1">
              <a:lnSpc>
                <a:spcPts val="3543"/>
              </a:lnSpc>
              <a:buFont typeface="Arial"/>
              <a:buChar char="•"/>
            </a:pPr>
            <a:r>
              <a:rPr lang="en-US" sz="2530">
                <a:solidFill>
                  <a:srgbClr val="080606"/>
                </a:solidFill>
                <a:latin typeface="Canva Sans"/>
                <a:ea typeface="Canva Sans"/>
                <a:cs typeface="Canva Sans"/>
                <a:sym typeface="Canva Sans"/>
              </a:rPr>
              <a:t>Managers</a:t>
            </a:r>
          </a:p>
          <a:p>
            <a:pPr algn="l" marL="546393" indent="-273197" lvl="1">
              <a:lnSpc>
                <a:spcPts val="3543"/>
              </a:lnSpc>
              <a:buFont typeface="Arial"/>
              <a:buChar char="•"/>
            </a:pPr>
            <a:r>
              <a:rPr lang="en-US" sz="2530">
                <a:solidFill>
                  <a:srgbClr val="080606"/>
                </a:solidFill>
                <a:latin typeface="Canva Sans"/>
                <a:ea typeface="Canva Sans"/>
                <a:cs typeface="Canva Sans"/>
                <a:sym typeface="Canva Sans"/>
              </a:rPr>
              <a:t>Marketing professionals</a:t>
            </a:r>
          </a:p>
          <a:p>
            <a:pPr algn="l">
              <a:lnSpc>
                <a:spcPts val="3813"/>
              </a:lnSpc>
            </a:pPr>
            <a:r>
              <a:rPr lang="en-US" b="true" sz="2723">
                <a:solidFill>
                  <a:srgbClr val="080606"/>
                </a:solidFill>
                <a:latin typeface="Canva Sans Bold"/>
                <a:ea typeface="Canva Sans Bold"/>
                <a:cs typeface="Canva Sans Bold"/>
                <a:sym typeface="Canva Sans Bold"/>
              </a:rPr>
              <a:t>Lifestyle:</a:t>
            </a:r>
          </a:p>
          <a:p>
            <a:pPr algn="l" marL="546393" indent="-273197" lvl="1">
              <a:lnSpc>
                <a:spcPts val="3543"/>
              </a:lnSpc>
              <a:buFont typeface="Arial"/>
              <a:buChar char="•"/>
            </a:pPr>
            <a:r>
              <a:rPr lang="en-US" sz="2530">
                <a:solidFill>
                  <a:srgbClr val="080606"/>
                </a:solidFill>
                <a:latin typeface="Canva Sans"/>
                <a:ea typeface="Canva Sans"/>
                <a:cs typeface="Canva Sans"/>
                <a:sym typeface="Canva Sans"/>
              </a:rPr>
              <a:t>Busy and fast-paced</a:t>
            </a:r>
          </a:p>
          <a:p>
            <a:pPr algn="l" marL="546393" indent="-273197" lvl="1">
              <a:lnSpc>
                <a:spcPts val="3543"/>
              </a:lnSpc>
              <a:buFont typeface="Arial"/>
              <a:buChar char="•"/>
            </a:pPr>
            <a:r>
              <a:rPr lang="en-US" sz="2530">
                <a:solidFill>
                  <a:srgbClr val="080606"/>
                </a:solidFill>
                <a:latin typeface="Canva Sans"/>
                <a:ea typeface="Canva Sans"/>
                <a:cs typeface="Canva Sans"/>
                <a:sym typeface="Canva Sans"/>
              </a:rPr>
              <a:t>Tech Usage</a:t>
            </a:r>
          </a:p>
          <a:p>
            <a:pPr algn="l" marL="546393" indent="-273197" lvl="1">
              <a:lnSpc>
                <a:spcPts val="3543"/>
              </a:lnSpc>
              <a:buFont typeface="Arial"/>
              <a:buChar char="•"/>
            </a:pPr>
            <a:r>
              <a:rPr lang="en-US" sz="2530">
                <a:solidFill>
                  <a:srgbClr val="080606"/>
                </a:solidFill>
                <a:latin typeface="Canva Sans"/>
                <a:ea typeface="Canva Sans"/>
                <a:cs typeface="Canva Sans"/>
                <a:sym typeface="Canva Sans"/>
              </a:rPr>
              <a:t>Heavy s</a:t>
            </a:r>
            <a:r>
              <a:rPr lang="en-US" sz="2530">
                <a:solidFill>
                  <a:srgbClr val="080606"/>
                </a:solidFill>
                <a:latin typeface="Canva Sans"/>
                <a:ea typeface="Canva Sans"/>
                <a:cs typeface="Canva Sans"/>
                <a:sym typeface="Canva Sans"/>
              </a:rPr>
              <a:t>martphone and</a:t>
            </a:r>
          </a:p>
          <a:p>
            <a:pPr algn="l">
              <a:lnSpc>
                <a:spcPts val="3543"/>
              </a:lnSpc>
            </a:pPr>
            <a:r>
              <a:rPr lang="en-US" sz="2530">
                <a:solidFill>
                  <a:srgbClr val="080606"/>
                </a:solidFill>
                <a:latin typeface="Canva Sans"/>
                <a:ea typeface="Canva Sans"/>
                <a:cs typeface="Canva Sans"/>
                <a:sym typeface="Canva Sans"/>
              </a:rPr>
              <a:t> laptop users</a:t>
            </a:r>
          </a:p>
          <a:p>
            <a:pPr algn="ctr">
              <a:lnSpc>
                <a:spcPts val="3543"/>
              </a:lnSpc>
            </a:pPr>
          </a:p>
        </p:txBody>
      </p:sp>
      <p:sp>
        <p:nvSpPr>
          <p:cNvPr name="TextBox 7" id="7"/>
          <p:cNvSpPr txBox="true"/>
          <p:nvPr/>
        </p:nvSpPr>
        <p:spPr>
          <a:xfrm rot="0">
            <a:off x="12904191" y="4101552"/>
            <a:ext cx="4115693" cy="4972050"/>
          </a:xfrm>
          <a:prstGeom prst="rect">
            <a:avLst/>
          </a:prstGeom>
        </p:spPr>
        <p:txBody>
          <a:bodyPr anchor="t" rtlCol="false" tIns="0" lIns="0" bIns="0" rIns="0">
            <a:spAutoFit/>
          </a:bodyPr>
          <a:lstStyle/>
          <a:p>
            <a:pPr algn="l">
              <a:lnSpc>
                <a:spcPts val="3808"/>
              </a:lnSpc>
            </a:pPr>
            <a:r>
              <a:rPr lang="en-US" sz="2720" b="true">
                <a:solidFill>
                  <a:srgbClr val="080606"/>
                </a:solidFill>
                <a:latin typeface="Canva Sans Bold"/>
                <a:ea typeface="Canva Sans Bold"/>
                <a:cs typeface="Canva Sans Bold"/>
                <a:sym typeface="Canva Sans Bold"/>
              </a:rPr>
              <a:t>Common Behaviors:</a:t>
            </a:r>
          </a:p>
          <a:p>
            <a:pPr algn="l" marL="546226" indent="-273113" lvl="1">
              <a:lnSpc>
                <a:spcPts val="3541"/>
              </a:lnSpc>
              <a:buFont typeface="Arial"/>
              <a:buChar char="•"/>
            </a:pPr>
            <a:r>
              <a:rPr lang="en-US" sz="2529">
                <a:solidFill>
                  <a:srgbClr val="080606"/>
                </a:solidFill>
                <a:latin typeface="Canva Sans"/>
                <a:ea typeface="Canva Sans"/>
                <a:cs typeface="Canva Sans"/>
                <a:sym typeface="Canva Sans"/>
              </a:rPr>
              <a:t>Long</a:t>
            </a:r>
            <a:r>
              <a:rPr lang="en-US" sz="2529">
                <a:solidFill>
                  <a:srgbClr val="080606"/>
                </a:solidFill>
                <a:latin typeface="Canva Sans"/>
                <a:ea typeface="Canva Sans"/>
                <a:cs typeface="Canva Sans"/>
                <a:sym typeface="Canva Sans"/>
              </a:rPr>
              <a:t> sitting hours</a:t>
            </a:r>
          </a:p>
          <a:p>
            <a:pPr algn="l" marL="546226" indent="-273113" lvl="1">
              <a:lnSpc>
                <a:spcPts val="3541"/>
              </a:lnSpc>
              <a:buFont typeface="Arial"/>
              <a:buChar char="•"/>
            </a:pPr>
            <a:r>
              <a:rPr lang="en-US" sz="2529">
                <a:solidFill>
                  <a:srgbClr val="080606"/>
                </a:solidFill>
                <a:latin typeface="Canva Sans"/>
                <a:ea typeface="Canva Sans"/>
                <a:cs typeface="Canva Sans"/>
                <a:sym typeface="Canva Sans"/>
              </a:rPr>
              <a:t>Lack of workout time</a:t>
            </a:r>
          </a:p>
          <a:p>
            <a:pPr algn="l" marL="546226" indent="-273113" lvl="1">
              <a:lnSpc>
                <a:spcPts val="3541"/>
              </a:lnSpc>
              <a:buFont typeface="Arial"/>
              <a:buChar char="•"/>
            </a:pPr>
            <a:r>
              <a:rPr lang="en-US" sz="2529">
                <a:solidFill>
                  <a:srgbClr val="080606"/>
                </a:solidFill>
                <a:latin typeface="Canva Sans"/>
                <a:ea typeface="Canva Sans"/>
                <a:cs typeface="Canva Sans"/>
                <a:sym typeface="Canva Sans"/>
              </a:rPr>
              <a:t>Work s</a:t>
            </a:r>
            <a:r>
              <a:rPr lang="en-US" sz="2529">
                <a:solidFill>
                  <a:srgbClr val="080606"/>
                </a:solidFill>
                <a:latin typeface="Canva Sans"/>
                <a:ea typeface="Canva Sans"/>
                <a:cs typeface="Canva Sans"/>
                <a:sym typeface="Canva Sans"/>
              </a:rPr>
              <a:t>tress</a:t>
            </a:r>
          </a:p>
          <a:p>
            <a:pPr algn="l" marL="546226" indent="-273113" lvl="1">
              <a:lnSpc>
                <a:spcPts val="3541"/>
              </a:lnSpc>
              <a:buFont typeface="Arial"/>
              <a:buChar char="•"/>
            </a:pPr>
            <a:r>
              <a:rPr lang="en-US" sz="2529">
                <a:solidFill>
                  <a:srgbClr val="080606"/>
                </a:solidFill>
                <a:latin typeface="Canva Sans"/>
                <a:ea typeface="Canva Sans"/>
                <a:cs typeface="Canva Sans"/>
                <a:sym typeface="Canva Sans"/>
              </a:rPr>
              <a:t>Low energy </a:t>
            </a:r>
            <a:r>
              <a:rPr lang="en-US" sz="2529">
                <a:solidFill>
                  <a:srgbClr val="080606"/>
                </a:solidFill>
                <a:latin typeface="Canva Sans"/>
                <a:ea typeface="Canva Sans"/>
                <a:cs typeface="Canva Sans"/>
                <a:sym typeface="Canva Sans"/>
              </a:rPr>
              <a:t>after office</a:t>
            </a:r>
          </a:p>
          <a:p>
            <a:pPr algn="l">
              <a:lnSpc>
                <a:spcPts val="3808"/>
              </a:lnSpc>
            </a:pPr>
            <a:r>
              <a:rPr lang="en-US" b="true" sz="2720">
                <a:solidFill>
                  <a:srgbClr val="080606"/>
                </a:solidFill>
                <a:latin typeface="Canva Sans Bold"/>
                <a:ea typeface="Canva Sans Bold"/>
                <a:cs typeface="Canva Sans Bold"/>
                <a:sym typeface="Canva Sans Bold"/>
              </a:rPr>
              <a:t>Fitness Goals:</a:t>
            </a:r>
          </a:p>
          <a:p>
            <a:pPr algn="l" marL="546226" indent="-273113" lvl="1">
              <a:lnSpc>
                <a:spcPts val="3541"/>
              </a:lnSpc>
              <a:buFont typeface="Arial"/>
              <a:buChar char="•"/>
            </a:pPr>
            <a:r>
              <a:rPr lang="en-US" sz="2529">
                <a:solidFill>
                  <a:srgbClr val="080606"/>
                </a:solidFill>
                <a:latin typeface="Canva Sans"/>
                <a:ea typeface="Canva Sans"/>
                <a:cs typeface="Canva Sans"/>
                <a:sym typeface="Canva Sans"/>
              </a:rPr>
              <a:t>Stay healthy</a:t>
            </a:r>
          </a:p>
          <a:p>
            <a:pPr algn="l" marL="546226" indent="-273113" lvl="1">
              <a:lnSpc>
                <a:spcPts val="3541"/>
              </a:lnSpc>
              <a:buFont typeface="Arial"/>
              <a:buChar char="•"/>
            </a:pPr>
            <a:r>
              <a:rPr lang="en-US" sz="2529">
                <a:solidFill>
                  <a:srgbClr val="080606"/>
                </a:solidFill>
                <a:latin typeface="Canva Sans"/>
                <a:ea typeface="Canva Sans"/>
                <a:cs typeface="Canva Sans"/>
                <a:sym typeface="Canva Sans"/>
              </a:rPr>
              <a:t>Reduce stress</a:t>
            </a:r>
          </a:p>
          <a:p>
            <a:pPr algn="l" marL="546226" indent="-273113" lvl="1">
              <a:lnSpc>
                <a:spcPts val="3541"/>
              </a:lnSpc>
              <a:buFont typeface="Arial"/>
              <a:buChar char="•"/>
            </a:pPr>
            <a:r>
              <a:rPr lang="en-US" sz="2529">
                <a:solidFill>
                  <a:srgbClr val="080606"/>
                </a:solidFill>
                <a:latin typeface="Canva Sans"/>
                <a:ea typeface="Canva Sans"/>
                <a:cs typeface="Canva Sans"/>
                <a:sym typeface="Canva Sans"/>
              </a:rPr>
              <a:t>Lose weight</a:t>
            </a:r>
          </a:p>
          <a:p>
            <a:pPr algn="l" marL="546226" indent="-273113" lvl="1">
              <a:lnSpc>
                <a:spcPts val="3541"/>
              </a:lnSpc>
              <a:buFont typeface="Arial"/>
              <a:buChar char="•"/>
            </a:pPr>
            <a:r>
              <a:rPr lang="en-US" sz="2529">
                <a:solidFill>
                  <a:srgbClr val="080606"/>
                </a:solidFill>
                <a:latin typeface="Canva Sans"/>
                <a:ea typeface="Canva Sans"/>
                <a:cs typeface="Canva Sans"/>
                <a:sym typeface="Canva Sans"/>
              </a:rPr>
              <a:t>Build routine</a:t>
            </a:r>
          </a:p>
          <a:p>
            <a:pPr algn="ctr">
              <a:lnSpc>
                <a:spcPts val="3541"/>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6396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982119" y="446333"/>
            <a:ext cx="7295234" cy="1035685"/>
          </a:xfrm>
          <a:prstGeom prst="rect">
            <a:avLst/>
          </a:prstGeom>
        </p:spPr>
        <p:txBody>
          <a:bodyPr anchor="t" rtlCol="false" tIns="0" lIns="0" bIns="0" rIns="0">
            <a:spAutoFit/>
          </a:bodyPr>
          <a:lstStyle/>
          <a:p>
            <a:pPr algn="l">
              <a:lnSpc>
                <a:spcPts val="8119"/>
              </a:lnSpc>
            </a:pPr>
            <a:r>
              <a:rPr lang="en-US" b="true" sz="6999" spc="-587">
                <a:solidFill>
                  <a:srgbClr val="080606"/>
                </a:solidFill>
                <a:latin typeface="Antonio Bold"/>
                <a:ea typeface="Antonio Bold"/>
                <a:cs typeface="Antonio Bold"/>
                <a:sym typeface="Antonio Bold"/>
              </a:rPr>
              <a:t>USER  PERSONA  01</a:t>
            </a:r>
          </a:p>
        </p:txBody>
      </p:sp>
      <p:sp>
        <p:nvSpPr>
          <p:cNvPr name="TextBox 4" id="4"/>
          <p:cNvSpPr txBox="true"/>
          <p:nvPr/>
        </p:nvSpPr>
        <p:spPr>
          <a:xfrm rot="0">
            <a:off x="1500188" y="5834504"/>
            <a:ext cx="3643312" cy="887095"/>
          </a:xfrm>
          <a:prstGeom prst="rect">
            <a:avLst/>
          </a:prstGeom>
        </p:spPr>
        <p:txBody>
          <a:bodyPr anchor="t" rtlCol="false" tIns="0" lIns="0" bIns="0" rIns="0">
            <a:spAutoFit/>
          </a:bodyPr>
          <a:lstStyle/>
          <a:p>
            <a:pPr algn="ctr">
              <a:lnSpc>
                <a:spcPts val="7279"/>
              </a:lnSpc>
            </a:pPr>
            <a:r>
              <a:rPr lang="en-US" sz="5199" b="true">
                <a:solidFill>
                  <a:srgbClr val="080606"/>
                </a:solidFill>
                <a:latin typeface="Canva Sans Bold"/>
                <a:ea typeface="Canva Sans Bold"/>
                <a:cs typeface="Canva Sans Bold"/>
                <a:sym typeface="Canva Sans Bold"/>
              </a:rPr>
              <a:t>Sarah Khan</a:t>
            </a:r>
          </a:p>
        </p:txBody>
      </p:sp>
      <p:sp>
        <p:nvSpPr>
          <p:cNvPr name="TextBox 5" id="5"/>
          <p:cNvSpPr txBox="true"/>
          <p:nvPr/>
        </p:nvSpPr>
        <p:spPr>
          <a:xfrm rot="0">
            <a:off x="1240854" y="6664449"/>
            <a:ext cx="3690491" cy="3181350"/>
          </a:xfrm>
          <a:prstGeom prst="rect">
            <a:avLst/>
          </a:prstGeom>
        </p:spPr>
        <p:txBody>
          <a:bodyPr anchor="t" rtlCol="false" tIns="0" lIns="0" bIns="0" rIns="0">
            <a:spAutoFit/>
          </a:bodyPr>
          <a:lstStyle/>
          <a:p>
            <a:pPr algn="ctr">
              <a:lnSpc>
                <a:spcPts val="4200"/>
              </a:lnSpc>
            </a:pPr>
            <a:r>
              <a:rPr lang="en-US" sz="3000" b="true">
                <a:solidFill>
                  <a:srgbClr val="080606"/>
                </a:solidFill>
                <a:latin typeface="Canva Sans Bold"/>
                <a:ea typeface="Canva Sans Bold"/>
                <a:cs typeface="Canva Sans Bold"/>
                <a:sym typeface="Canva Sans Bold"/>
              </a:rPr>
              <a:t>Age:</a:t>
            </a:r>
          </a:p>
          <a:p>
            <a:pPr algn="ctr">
              <a:lnSpc>
                <a:spcPts val="4200"/>
              </a:lnSpc>
            </a:pPr>
            <a:r>
              <a:rPr lang="en-US" sz="3000">
                <a:solidFill>
                  <a:srgbClr val="080606"/>
                </a:solidFill>
                <a:latin typeface="Canva Sans"/>
                <a:ea typeface="Canva Sans"/>
                <a:cs typeface="Canva Sans"/>
                <a:sym typeface="Canva Sans"/>
              </a:rPr>
              <a:t>28</a:t>
            </a:r>
          </a:p>
          <a:p>
            <a:pPr algn="ctr">
              <a:lnSpc>
                <a:spcPts val="4200"/>
              </a:lnSpc>
            </a:pPr>
            <a:r>
              <a:rPr lang="en-US" sz="3000" b="true">
                <a:solidFill>
                  <a:srgbClr val="080606"/>
                </a:solidFill>
                <a:latin typeface="Canva Sans Bold"/>
                <a:ea typeface="Canva Sans Bold"/>
                <a:cs typeface="Canva Sans Bold"/>
                <a:sym typeface="Canva Sans Bold"/>
              </a:rPr>
              <a:t>Occupation:</a:t>
            </a:r>
          </a:p>
          <a:p>
            <a:pPr algn="ctr">
              <a:lnSpc>
                <a:spcPts val="4200"/>
              </a:lnSpc>
            </a:pPr>
            <a:r>
              <a:rPr lang="en-US" sz="3000">
                <a:solidFill>
                  <a:srgbClr val="080606"/>
                </a:solidFill>
                <a:latin typeface="Canva Sans"/>
                <a:ea typeface="Canva Sans"/>
                <a:cs typeface="Canva Sans"/>
                <a:sym typeface="Canva Sans"/>
              </a:rPr>
              <a:t>Marketing Executive</a:t>
            </a:r>
          </a:p>
          <a:p>
            <a:pPr algn="ctr">
              <a:lnSpc>
                <a:spcPts val="4200"/>
              </a:lnSpc>
            </a:pPr>
            <a:r>
              <a:rPr lang="en-US" sz="3000" b="true">
                <a:solidFill>
                  <a:srgbClr val="080606"/>
                </a:solidFill>
                <a:latin typeface="Canva Sans Bold"/>
                <a:ea typeface="Canva Sans Bold"/>
                <a:cs typeface="Canva Sans Bold"/>
                <a:sym typeface="Canva Sans Bold"/>
              </a:rPr>
              <a:t>Location:</a:t>
            </a:r>
          </a:p>
          <a:p>
            <a:pPr algn="ctr">
              <a:lnSpc>
                <a:spcPts val="4200"/>
              </a:lnSpc>
            </a:pPr>
            <a:r>
              <a:rPr lang="en-US" sz="3000">
                <a:solidFill>
                  <a:srgbClr val="080606"/>
                </a:solidFill>
                <a:latin typeface="Canva Sans"/>
                <a:ea typeface="Canva Sans"/>
                <a:cs typeface="Canva Sans"/>
                <a:sym typeface="Canva Sans"/>
              </a:rPr>
              <a:t>Lahore</a:t>
            </a:r>
          </a:p>
        </p:txBody>
      </p:sp>
      <p:sp>
        <p:nvSpPr>
          <p:cNvPr name="TextBox 6" id="6"/>
          <p:cNvSpPr txBox="true"/>
          <p:nvPr/>
        </p:nvSpPr>
        <p:spPr>
          <a:xfrm rot="0">
            <a:off x="7575958" y="1655008"/>
            <a:ext cx="9503546" cy="1544320"/>
          </a:xfrm>
          <a:prstGeom prst="rect">
            <a:avLst/>
          </a:prstGeom>
        </p:spPr>
        <p:txBody>
          <a:bodyPr anchor="t" rtlCol="false" tIns="0" lIns="0" bIns="0" rIns="0">
            <a:spAutoFit/>
          </a:bodyPr>
          <a:lstStyle/>
          <a:p>
            <a:pPr algn="ctr">
              <a:lnSpc>
                <a:spcPts val="3079"/>
              </a:lnSpc>
            </a:pPr>
            <a:r>
              <a:rPr lang="en-US" sz="2199">
                <a:solidFill>
                  <a:srgbClr val="080606"/>
                </a:solidFill>
                <a:latin typeface="Canva Sans"/>
                <a:ea typeface="Canva Sans"/>
                <a:cs typeface="Canva Sans"/>
                <a:sym typeface="Canva Sans"/>
              </a:rPr>
              <a:t>Sarah works in a fast-pace</a:t>
            </a:r>
            <a:r>
              <a:rPr lang="en-US" sz="2199">
                <a:solidFill>
                  <a:srgbClr val="080606"/>
                </a:solidFill>
                <a:latin typeface="Canva Sans"/>
                <a:ea typeface="Canva Sans"/>
                <a:cs typeface="Canva Sans"/>
                <a:sym typeface="Canva Sans"/>
              </a:rPr>
              <a:t>d marketing company where she attends meetings, handles campaigns, and manages deadlines. Her busy schedule and mental exhaustion make it difficult to maintain a fitness routine.</a:t>
            </a:r>
          </a:p>
        </p:txBody>
      </p:sp>
      <p:sp>
        <p:nvSpPr>
          <p:cNvPr name="TextBox 7" id="7"/>
          <p:cNvSpPr txBox="true"/>
          <p:nvPr/>
        </p:nvSpPr>
        <p:spPr>
          <a:xfrm rot="0">
            <a:off x="8371468" y="3343744"/>
            <a:ext cx="1064121" cy="596899"/>
          </a:xfrm>
          <a:prstGeom prst="rect">
            <a:avLst/>
          </a:prstGeom>
        </p:spPr>
        <p:txBody>
          <a:bodyPr anchor="t" rtlCol="false" tIns="0" lIns="0" bIns="0" rIns="0">
            <a:spAutoFit/>
          </a:bodyPr>
          <a:lstStyle/>
          <a:p>
            <a:pPr algn="ctr">
              <a:lnSpc>
                <a:spcPts val="4900"/>
              </a:lnSpc>
            </a:pPr>
            <a:r>
              <a:rPr lang="en-US" sz="3500" b="true">
                <a:solidFill>
                  <a:srgbClr val="080606"/>
                </a:solidFill>
                <a:latin typeface="Antonio Bold"/>
                <a:ea typeface="Antonio Bold"/>
                <a:cs typeface="Antonio Bold"/>
                <a:sym typeface="Antonio Bold"/>
              </a:rPr>
              <a:t>Goals:</a:t>
            </a:r>
          </a:p>
        </p:txBody>
      </p:sp>
      <p:sp>
        <p:nvSpPr>
          <p:cNvPr name="TextBox 8" id="8"/>
          <p:cNvSpPr txBox="true"/>
          <p:nvPr/>
        </p:nvSpPr>
        <p:spPr>
          <a:xfrm rot="0">
            <a:off x="9574743" y="3673069"/>
            <a:ext cx="3897511" cy="17367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80606"/>
                </a:solidFill>
                <a:latin typeface="Canva Sans"/>
                <a:ea typeface="Canva Sans"/>
                <a:cs typeface="Canva Sans"/>
                <a:sym typeface="Canva Sans"/>
              </a:rPr>
              <a:t>St</a:t>
            </a:r>
            <a:r>
              <a:rPr lang="en-US" sz="2499">
                <a:solidFill>
                  <a:srgbClr val="080606"/>
                </a:solidFill>
                <a:latin typeface="Canva Sans"/>
                <a:ea typeface="Canva Sans"/>
                <a:cs typeface="Canva Sans"/>
                <a:sym typeface="Canva Sans"/>
              </a:rPr>
              <a:t>ay fit</a:t>
            </a:r>
          </a:p>
          <a:p>
            <a:pPr algn="l" marL="539749" indent="-269875" lvl="1">
              <a:lnSpc>
                <a:spcPts val="3499"/>
              </a:lnSpc>
              <a:buFont typeface="Arial"/>
              <a:buChar char="•"/>
            </a:pPr>
            <a:r>
              <a:rPr lang="en-US" sz="2499">
                <a:solidFill>
                  <a:srgbClr val="080606"/>
                </a:solidFill>
                <a:latin typeface="Canva Sans"/>
                <a:ea typeface="Canva Sans"/>
                <a:cs typeface="Canva Sans"/>
                <a:sym typeface="Canva Sans"/>
              </a:rPr>
              <a:t>Reduce stress</a:t>
            </a:r>
          </a:p>
          <a:p>
            <a:pPr algn="l" marL="539749" indent="-269875" lvl="1">
              <a:lnSpc>
                <a:spcPts val="3499"/>
              </a:lnSpc>
              <a:buFont typeface="Arial"/>
              <a:buChar char="•"/>
            </a:pPr>
            <a:r>
              <a:rPr lang="en-US" sz="2499">
                <a:solidFill>
                  <a:srgbClr val="080606"/>
                </a:solidFill>
                <a:latin typeface="Canva Sans"/>
                <a:ea typeface="Canva Sans"/>
                <a:cs typeface="Canva Sans"/>
                <a:sym typeface="Canva Sans"/>
              </a:rPr>
              <a:t>Exercise regularly</a:t>
            </a:r>
          </a:p>
          <a:p>
            <a:pPr algn="ctr" marL="539749" indent="-269875" lvl="1">
              <a:lnSpc>
                <a:spcPts val="3499"/>
              </a:lnSpc>
              <a:buFont typeface="Arial"/>
              <a:buChar char="•"/>
            </a:pPr>
            <a:r>
              <a:rPr lang="en-US" sz="2499">
                <a:solidFill>
                  <a:srgbClr val="080606"/>
                </a:solidFill>
                <a:latin typeface="Canva Sans"/>
                <a:ea typeface="Canva Sans"/>
                <a:cs typeface="Canva Sans"/>
                <a:sym typeface="Canva Sans"/>
              </a:rPr>
              <a:t>Improve energy levels</a:t>
            </a:r>
          </a:p>
        </p:txBody>
      </p:sp>
      <p:sp>
        <p:nvSpPr>
          <p:cNvPr name="TextBox 9" id="9"/>
          <p:cNvSpPr txBox="true"/>
          <p:nvPr/>
        </p:nvSpPr>
        <p:spPr>
          <a:xfrm rot="0">
            <a:off x="8534881" y="5422655"/>
            <a:ext cx="2079724" cy="596900"/>
          </a:xfrm>
          <a:prstGeom prst="rect">
            <a:avLst/>
          </a:prstGeom>
        </p:spPr>
        <p:txBody>
          <a:bodyPr anchor="t" rtlCol="false" tIns="0" lIns="0" bIns="0" rIns="0">
            <a:spAutoFit/>
          </a:bodyPr>
          <a:lstStyle/>
          <a:p>
            <a:pPr algn="ctr">
              <a:lnSpc>
                <a:spcPts val="4900"/>
              </a:lnSpc>
            </a:pPr>
            <a:r>
              <a:rPr lang="en-US" sz="3500" b="true">
                <a:solidFill>
                  <a:srgbClr val="080606"/>
                </a:solidFill>
                <a:latin typeface="Antonio Bold"/>
                <a:ea typeface="Antonio Bold"/>
                <a:cs typeface="Antonio Bold"/>
                <a:sym typeface="Antonio Bold"/>
              </a:rPr>
              <a:t>Frustations:</a:t>
            </a:r>
          </a:p>
        </p:txBody>
      </p:sp>
      <p:sp>
        <p:nvSpPr>
          <p:cNvPr name="TextBox 10" id="10"/>
          <p:cNvSpPr txBox="true"/>
          <p:nvPr/>
        </p:nvSpPr>
        <p:spPr>
          <a:xfrm rot="0">
            <a:off x="9574743" y="6048130"/>
            <a:ext cx="3539579" cy="17367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80606"/>
                </a:solidFill>
                <a:latin typeface="Canva Sans"/>
                <a:ea typeface="Canva Sans"/>
                <a:cs typeface="Canva Sans"/>
                <a:sym typeface="Canva Sans"/>
              </a:rPr>
              <a:t>No time</a:t>
            </a:r>
            <a:r>
              <a:rPr lang="en-US" sz="2499">
                <a:solidFill>
                  <a:srgbClr val="080606"/>
                </a:solidFill>
                <a:latin typeface="Canva Sans"/>
                <a:ea typeface="Canva Sans"/>
                <a:cs typeface="Canva Sans"/>
                <a:sym typeface="Canva Sans"/>
              </a:rPr>
              <a:t> for gym</a:t>
            </a:r>
          </a:p>
          <a:p>
            <a:pPr algn="l" marL="539749" indent="-269875" lvl="1">
              <a:lnSpc>
                <a:spcPts val="3499"/>
              </a:lnSpc>
              <a:buFont typeface="Arial"/>
              <a:buChar char="•"/>
            </a:pPr>
            <a:r>
              <a:rPr lang="en-US" sz="2499">
                <a:solidFill>
                  <a:srgbClr val="080606"/>
                </a:solidFill>
                <a:latin typeface="Canva Sans"/>
                <a:ea typeface="Canva Sans"/>
                <a:cs typeface="Canva Sans"/>
                <a:sym typeface="Canva Sans"/>
              </a:rPr>
              <a:t>Tired after work</a:t>
            </a:r>
          </a:p>
          <a:p>
            <a:pPr algn="ctr" marL="539749" indent="-269875" lvl="1">
              <a:lnSpc>
                <a:spcPts val="3499"/>
              </a:lnSpc>
              <a:buFont typeface="Arial"/>
              <a:buChar char="•"/>
            </a:pPr>
            <a:r>
              <a:rPr lang="en-US" sz="2499">
                <a:solidFill>
                  <a:srgbClr val="080606"/>
                </a:solidFill>
                <a:latin typeface="Canva Sans"/>
                <a:ea typeface="Canva Sans"/>
                <a:cs typeface="Canva Sans"/>
                <a:sym typeface="Canva Sans"/>
              </a:rPr>
              <a:t>Lack of consistency</a:t>
            </a:r>
          </a:p>
          <a:p>
            <a:pPr algn="ctr" marL="539749" indent="-269875" lvl="1">
              <a:lnSpc>
                <a:spcPts val="3499"/>
              </a:lnSpc>
              <a:buFont typeface="Arial"/>
              <a:buChar char="•"/>
            </a:pPr>
            <a:r>
              <a:rPr lang="en-US" sz="2499">
                <a:solidFill>
                  <a:srgbClr val="080606"/>
                </a:solidFill>
                <a:latin typeface="Canva Sans"/>
                <a:ea typeface="Canva Sans"/>
                <a:cs typeface="Canva Sans"/>
                <a:sym typeface="Canva Sans"/>
              </a:rPr>
              <a:t>Low motivation</a:t>
            </a:r>
          </a:p>
        </p:txBody>
      </p:sp>
      <p:sp>
        <p:nvSpPr>
          <p:cNvPr name="TextBox 11" id="11"/>
          <p:cNvSpPr txBox="true"/>
          <p:nvPr/>
        </p:nvSpPr>
        <p:spPr>
          <a:xfrm rot="0">
            <a:off x="8468132" y="7718180"/>
            <a:ext cx="1822698" cy="596900"/>
          </a:xfrm>
          <a:prstGeom prst="rect">
            <a:avLst/>
          </a:prstGeom>
        </p:spPr>
        <p:txBody>
          <a:bodyPr anchor="t" rtlCol="false" tIns="0" lIns="0" bIns="0" rIns="0">
            <a:spAutoFit/>
          </a:bodyPr>
          <a:lstStyle/>
          <a:p>
            <a:pPr algn="ctr">
              <a:lnSpc>
                <a:spcPts val="4900"/>
              </a:lnSpc>
            </a:pPr>
            <a:r>
              <a:rPr lang="en-US" sz="3500" b="true">
                <a:solidFill>
                  <a:srgbClr val="080606"/>
                </a:solidFill>
                <a:latin typeface="Antonio Bold"/>
                <a:ea typeface="Antonio Bold"/>
                <a:cs typeface="Antonio Bold"/>
                <a:sym typeface="Antonio Bold"/>
              </a:rPr>
              <a:t>Behaviors:</a:t>
            </a:r>
          </a:p>
        </p:txBody>
      </p:sp>
      <p:sp>
        <p:nvSpPr>
          <p:cNvPr name="TextBox 12" id="12"/>
          <p:cNvSpPr txBox="true"/>
          <p:nvPr/>
        </p:nvSpPr>
        <p:spPr>
          <a:xfrm rot="0">
            <a:off x="9574743" y="8343655"/>
            <a:ext cx="4934843" cy="1736725"/>
          </a:xfrm>
          <a:prstGeom prst="rect">
            <a:avLst/>
          </a:prstGeom>
        </p:spPr>
        <p:txBody>
          <a:bodyPr anchor="t" rtlCol="false" tIns="0" lIns="0" bIns="0" rIns="0">
            <a:spAutoFit/>
          </a:bodyPr>
          <a:lstStyle/>
          <a:p>
            <a:pPr algn="ctr" marL="539749" indent="-269875" lvl="1">
              <a:lnSpc>
                <a:spcPts val="3499"/>
              </a:lnSpc>
              <a:buFont typeface="Arial"/>
              <a:buChar char="•"/>
            </a:pPr>
            <a:r>
              <a:rPr lang="en-US" sz="2499">
                <a:solidFill>
                  <a:srgbClr val="080606"/>
                </a:solidFill>
                <a:latin typeface="Canva Sans"/>
                <a:ea typeface="Canva Sans"/>
                <a:cs typeface="Canva Sans"/>
                <a:sym typeface="Canva Sans"/>
              </a:rPr>
              <a:t>Uses</a:t>
            </a:r>
            <a:r>
              <a:rPr lang="en-US" sz="2499">
                <a:solidFill>
                  <a:srgbClr val="080606"/>
                </a:solidFill>
                <a:latin typeface="Canva Sans"/>
                <a:ea typeface="Canva Sans"/>
                <a:cs typeface="Canva Sans"/>
                <a:sym typeface="Canva Sans"/>
              </a:rPr>
              <a:t> social media often</a:t>
            </a:r>
          </a:p>
          <a:p>
            <a:pPr algn="ctr" marL="539749" indent="-269875" lvl="1">
              <a:lnSpc>
                <a:spcPts val="3499"/>
              </a:lnSpc>
              <a:buFont typeface="Arial"/>
              <a:buChar char="•"/>
            </a:pPr>
            <a:r>
              <a:rPr lang="en-US" sz="2499">
                <a:solidFill>
                  <a:srgbClr val="080606"/>
                </a:solidFill>
                <a:latin typeface="Canva Sans"/>
                <a:ea typeface="Canva Sans"/>
                <a:cs typeface="Canva Sans"/>
                <a:sym typeface="Canva Sans"/>
              </a:rPr>
              <a:t>Watches quick fitness videos</a:t>
            </a:r>
          </a:p>
          <a:p>
            <a:pPr algn="ctr" marL="539749" indent="-269875" lvl="1">
              <a:lnSpc>
                <a:spcPts val="3499"/>
              </a:lnSpc>
              <a:buFont typeface="Arial"/>
              <a:buChar char="•"/>
            </a:pPr>
            <a:r>
              <a:rPr lang="en-US" sz="2499">
                <a:solidFill>
                  <a:srgbClr val="080606"/>
                </a:solidFill>
                <a:latin typeface="Canva Sans"/>
                <a:ea typeface="Canva Sans"/>
                <a:cs typeface="Canva Sans"/>
                <a:sym typeface="Canva Sans"/>
              </a:rPr>
              <a:t>Prefers home workouts</a:t>
            </a:r>
          </a:p>
          <a:p>
            <a:pPr algn="ctr">
              <a:lnSpc>
                <a:spcPts val="349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2753" y="1814954"/>
            <a:ext cx="3880747" cy="4114800"/>
          </a:xfrm>
          <a:custGeom>
            <a:avLst/>
            <a:gdLst/>
            <a:ahLst/>
            <a:cxnLst/>
            <a:rect r="r" b="b" t="t" l="l"/>
            <a:pathLst>
              <a:path h="4114800" w="3880747">
                <a:moveTo>
                  <a:pt x="0" y="0"/>
                </a:moveTo>
                <a:lnTo>
                  <a:pt x="3880747" y="0"/>
                </a:lnTo>
                <a:lnTo>
                  <a:pt x="3880747"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982119" y="446333"/>
            <a:ext cx="7295234" cy="1035685"/>
          </a:xfrm>
          <a:prstGeom prst="rect">
            <a:avLst/>
          </a:prstGeom>
        </p:spPr>
        <p:txBody>
          <a:bodyPr anchor="t" rtlCol="false" tIns="0" lIns="0" bIns="0" rIns="0">
            <a:spAutoFit/>
          </a:bodyPr>
          <a:lstStyle/>
          <a:p>
            <a:pPr algn="l">
              <a:lnSpc>
                <a:spcPts val="8119"/>
              </a:lnSpc>
            </a:pPr>
            <a:r>
              <a:rPr lang="en-US" b="true" sz="6999" spc="-587">
                <a:solidFill>
                  <a:srgbClr val="080606"/>
                </a:solidFill>
                <a:latin typeface="Antonio Bold"/>
                <a:ea typeface="Antonio Bold"/>
                <a:cs typeface="Antonio Bold"/>
                <a:sym typeface="Antonio Bold"/>
              </a:rPr>
              <a:t>USER  PERSONA  02</a:t>
            </a:r>
          </a:p>
        </p:txBody>
      </p:sp>
      <p:sp>
        <p:nvSpPr>
          <p:cNvPr name="TextBox 4" id="4"/>
          <p:cNvSpPr txBox="true"/>
          <p:nvPr/>
        </p:nvSpPr>
        <p:spPr>
          <a:xfrm rot="0">
            <a:off x="2064246" y="5834504"/>
            <a:ext cx="2515195" cy="887095"/>
          </a:xfrm>
          <a:prstGeom prst="rect">
            <a:avLst/>
          </a:prstGeom>
        </p:spPr>
        <p:txBody>
          <a:bodyPr anchor="t" rtlCol="false" tIns="0" lIns="0" bIns="0" rIns="0">
            <a:spAutoFit/>
          </a:bodyPr>
          <a:lstStyle/>
          <a:p>
            <a:pPr algn="ctr">
              <a:lnSpc>
                <a:spcPts val="7279"/>
              </a:lnSpc>
            </a:pPr>
            <a:r>
              <a:rPr lang="en-US" sz="5199" b="true">
                <a:solidFill>
                  <a:srgbClr val="080606"/>
                </a:solidFill>
                <a:latin typeface="Canva Sans Bold"/>
                <a:ea typeface="Canva Sans Bold"/>
                <a:cs typeface="Canva Sans Bold"/>
                <a:sym typeface="Canva Sans Bold"/>
              </a:rPr>
              <a:t>Ali Raza</a:t>
            </a:r>
          </a:p>
        </p:txBody>
      </p:sp>
      <p:sp>
        <p:nvSpPr>
          <p:cNvPr name="TextBox 5" id="5"/>
          <p:cNvSpPr txBox="true"/>
          <p:nvPr/>
        </p:nvSpPr>
        <p:spPr>
          <a:xfrm rot="0">
            <a:off x="1407393" y="6664449"/>
            <a:ext cx="3357414" cy="3181350"/>
          </a:xfrm>
          <a:prstGeom prst="rect">
            <a:avLst/>
          </a:prstGeom>
        </p:spPr>
        <p:txBody>
          <a:bodyPr anchor="t" rtlCol="false" tIns="0" lIns="0" bIns="0" rIns="0">
            <a:spAutoFit/>
          </a:bodyPr>
          <a:lstStyle/>
          <a:p>
            <a:pPr algn="ctr">
              <a:lnSpc>
                <a:spcPts val="4200"/>
              </a:lnSpc>
            </a:pPr>
            <a:r>
              <a:rPr lang="en-US" sz="3000" b="true">
                <a:solidFill>
                  <a:srgbClr val="080606"/>
                </a:solidFill>
                <a:latin typeface="Canva Sans Bold"/>
                <a:ea typeface="Canva Sans Bold"/>
                <a:cs typeface="Canva Sans Bold"/>
                <a:sym typeface="Canva Sans Bold"/>
              </a:rPr>
              <a:t>Age:</a:t>
            </a:r>
          </a:p>
          <a:p>
            <a:pPr algn="ctr">
              <a:lnSpc>
                <a:spcPts val="4200"/>
              </a:lnSpc>
            </a:pPr>
            <a:r>
              <a:rPr lang="en-US" sz="3000">
                <a:solidFill>
                  <a:srgbClr val="080606"/>
                </a:solidFill>
                <a:latin typeface="Canva Sans"/>
                <a:ea typeface="Canva Sans"/>
                <a:cs typeface="Canva Sans"/>
                <a:sym typeface="Canva Sans"/>
              </a:rPr>
              <a:t>34</a:t>
            </a:r>
          </a:p>
          <a:p>
            <a:pPr algn="ctr">
              <a:lnSpc>
                <a:spcPts val="4200"/>
              </a:lnSpc>
            </a:pPr>
            <a:r>
              <a:rPr lang="en-US" sz="3000" b="true">
                <a:solidFill>
                  <a:srgbClr val="080606"/>
                </a:solidFill>
                <a:latin typeface="Canva Sans Bold"/>
                <a:ea typeface="Canva Sans Bold"/>
                <a:cs typeface="Canva Sans Bold"/>
                <a:sym typeface="Canva Sans Bold"/>
              </a:rPr>
              <a:t>Occupation:</a:t>
            </a:r>
          </a:p>
          <a:p>
            <a:pPr algn="ctr">
              <a:lnSpc>
                <a:spcPts val="4200"/>
              </a:lnSpc>
            </a:pPr>
            <a:r>
              <a:rPr lang="en-US" sz="3000">
                <a:solidFill>
                  <a:srgbClr val="080606"/>
                </a:solidFill>
                <a:latin typeface="Canva Sans"/>
                <a:ea typeface="Canva Sans"/>
                <a:cs typeface="Canva Sans"/>
                <a:sym typeface="Canva Sans"/>
              </a:rPr>
              <a:t>Software Engineer</a:t>
            </a:r>
          </a:p>
          <a:p>
            <a:pPr algn="ctr">
              <a:lnSpc>
                <a:spcPts val="4200"/>
              </a:lnSpc>
            </a:pPr>
            <a:r>
              <a:rPr lang="en-US" sz="3000" b="true">
                <a:solidFill>
                  <a:srgbClr val="080606"/>
                </a:solidFill>
                <a:latin typeface="Canva Sans Bold"/>
                <a:ea typeface="Canva Sans Bold"/>
                <a:cs typeface="Canva Sans Bold"/>
                <a:sym typeface="Canva Sans Bold"/>
              </a:rPr>
              <a:t>Location:</a:t>
            </a:r>
          </a:p>
          <a:p>
            <a:pPr algn="ctr">
              <a:lnSpc>
                <a:spcPts val="4200"/>
              </a:lnSpc>
            </a:pPr>
            <a:r>
              <a:rPr lang="en-US" sz="3000">
                <a:solidFill>
                  <a:srgbClr val="080606"/>
                </a:solidFill>
                <a:latin typeface="Canva Sans"/>
                <a:ea typeface="Canva Sans"/>
                <a:cs typeface="Canva Sans"/>
                <a:sym typeface="Canva Sans"/>
              </a:rPr>
              <a:t>Islamabad</a:t>
            </a:r>
          </a:p>
        </p:txBody>
      </p:sp>
      <p:sp>
        <p:nvSpPr>
          <p:cNvPr name="TextBox 6" id="6"/>
          <p:cNvSpPr txBox="true"/>
          <p:nvPr/>
        </p:nvSpPr>
        <p:spPr>
          <a:xfrm rot="0">
            <a:off x="7575958" y="1655008"/>
            <a:ext cx="9503546" cy="1153795"/>
          </a:xfrm>
          <a:prstGeom prst="rect">
            <a:avLst/>
          </a:prstGeom>
        </p:spPr>
        <p:txBody>
          <a:bodyPr anchor="t" rtlCol="false" tIns="0" lIns="0" bIns="0" rIns="0">
            <a:spAutoFit/>
          </a:bodyPr>
          <a:lstStyle/>
          <a:p>
            <a:pPr algn="ctr">
              <a:lnSpc>
                <a:spcPts val="3079"/>
              </a:lnSpc>
            </a:pPr>
            <a:r>
              <a:rPr lang="en-US" sz="2199">
                <a:solidFill>
                  <a:srgbClr val="080606"/>
                </a:solidFill>
                <a:latin typeface="Canva Sans"/>
                <a:ea typeface="Canva Sans"/>
                <a:cs typeface="Canva Sans"/>
                <a:sym typeface="Canva Sans"/>
              </a:rPr>
              <a:t>Ali works remotely as a software</a:t>
            </a:r>
            <a:r>
              <a:rPr lang="en-US" sz="2199">
                <a:solidFill>
                  <a:srgbClr val="080606"/>
                </a:solidFill>
                <a:latin typeface="Canva Sans"/>
                <a:ea typeface="Canva Sans"/>
                <a:cs typeface="Canva Sans"/>
                <a:sym typeface="Canva Sans"/>
              </a:rPr>
              <a:t> engineer and spends most of his day coding and attending virtual meetings. His sedentary work routine causes back pain and low physical activity.</a:t>
            </a:r>
          </a:p>
        </p:txBody>
      </p:sp>
      <p:sp>
        <p:nvSpPr>
          <p:cNvPr name="TextBox 7" id="7"/>
          <p:cNvSpPr txBox="true"/>
          <p:nvPr/>
        </p:nvSpPr>
        <p:spPr>
          <a:xfrm rot="0">
            <a:off x="8371468" y="3343744"/>
            <a:ext cx="1064121" cy="596899"/>
          </a:xfrm>
          <a:prstGeom prst="rect">
            <a:avLst/>
          </a:prstGeom>
        </p:spPr>
        <p:txBody>
          <a:bodyPr anchor="t" rtlCol="false" tIns="0" lIns="0" bIns="0" rIns="0">
            <a:spAutoFit/>
          </a:bodyPr>
          <a:lstStyle/>
          <a:p>
            <a:pPr algn="ctr">
              <a:lnSpc>
                <a:spcPts val="4900"/>
              </a:lnSpc>
            </a:pPr>
            <a:r>
              <a:rPr lang="en-US" sz="3500" b="true">
                <a:solidFill>
                  <a:srgbClr val="080606"/>
                </a:solidFill>
                <a:latin typeface="Antonio Bold"/>
                <a:ea typeface="Antonio Bold"/>
                <a:cs typeface="Antonio Bold"/>
                <a:sym typeface="Antonio Bold"/>
              </a:rPr>
              <a:t>Goals:</a:t>
            </a:r>
          </a:p>
        </p:txBody>
      </p:sp>
      <p:sp>
        <p:nvSpPr>
          <p:cNvPr name="TextBox 8" id="8"/>
          <p:cNvSpPr txBox="true"/>
          <p:nvPr/>
        </p:nvSpPr>
        <p:spPr>
          <a:xfrm rot="0">
            <a:off x="9574743" y="3673069"/>
            <a:ext cx="3557439" cy="17367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80606"/>
                </a:solidFill>
                <a:latin typeface="Canva Sans"/>
                <a:ea typeface="Canva Sans"/>
                <a:cs typeface="Canva Sans"/>
                <a:sym typeface="Canva Sans"/>
              </a:rPr>
              <a:t>Improv</a:t>
            </a:r>
            <a:r>
              <a:rPr lang="en-US" sz="2499">
                <a:solidFill>
                  <a:srgbClr val="080606"/>
                </a:solidFill>
                <a:latin typeface="Canva Sans"/>
                <a:ea typeface="Canva Sans"/>
                <a:cs typeface="Canva Sans"/>
                <a:sym typeface="Canva Sans"/>
              </a:rPr>
              <a:t>e posture</a:t>
            </a:r>
          </a:p>
          <a:p>
            <a:pPr algn="l" marL="539749" indent="-269875" lvl="1">
              <a:lnSpc>
                <a:spcPts val="3499"/>
              </a:lnSpc>
              <a:buFont typeface="Arial"/>
              <a:buChar char="•"/>
            </a:pPr>
            <a:r>
              <a:rPr lang="en-US" sz="2499">
                <a:solidFill>
                  <a:srgbClr val="080606"/>
                </a:solidFill>
                <a:latin typeface="Canva Sans"/>
                <a:ea typeface="Canva Sans"/>
                <a:cs typeface="Canva Sans"/>
                <a:sym typeface="Canva Sans"/>
              </a:rPr>
              <a:t>Incr</a:t>
            </a:r>
            <a:r>
              <a:rPr lang="en-US" sz="2499">
                <a:solidFill>
                  <a:srgbClr val="080606"/>
                </a:solidFill>
                <a:latin typeface="Canva Sans"/>
                <a:ea typeface="Canva Sans"/>
                <a:cs typeface="Canva Sans"/>
                <a:sym typeface="Canva Sans"/>
              </a:rPr>
              <a:t>ease movement</a:t>
            </a:r>
          </a:p>
          <a:p>
            <a:pPr algn="l" marL="539749" indent="-269875" lvl="1">
              <a:lnSpc>
                <a:spcPts val="3499"/>
              </a:lnSpc>
              <a:buFont typeface="Arial"/>
              <a:buChar char="•"/>
            </a:pPr>
            <a:r>
              <a:rPr lang="en-US" sz="2499">
                <a:solidFill>
                  <a:srgbClr val="080606"/>
                </a:solidFill>
                <a:latin typeface="Canva Sans"/>
                <a:ea typeface="Canva Sans"/>
                <a:cs typeface="Canva Sans"/>
                <a:sym typeface="Canva Sans"/>
              </a:rPr>
              <a:t>Stay healthy</a:t>
            </a:r>
          </a:p>
          <a:p>
            <a:pPr algn="l" marL="539749" indent="-269875" lvl="1">
              <a:lnSpc>
                <a:spcPts val="3499"/>
              </a:lnSpc>
              <a:buFont typeface="Arial"/>
              <a:buChar char="•"/>
            </a:pPr>
            <a:r>
              <a:rPr lang="en-US" sz="2499">
                <a:solidFill>
                  <a:srgbClr val="080606"/>
                </a:solidFill>
                <a:latin typeface="Canva Sans"/>
                <a:ea typeface="Canva Sans"/>
                <a:cs typeface="Canva Sans"/>
                <a:sym typeface="Canva Sans"/>
              </a:rPr>
              <a:t>Reduce back pain</a:t>
            </a:r>
          </a:p>
        </p:txBody>
      </p:sp>
      <p:sp>
        <p:nvSpPr>
          <p:cNvPr name="TextBox 9" id="9"/>
          <p:cNvSpPr txBox="true"/>
          <p:nvPr/>
        </p:nvSpPr>
        <p:spPr>
          <a:xfrm rot="0">
            <a:off x="8534881" y="5422655"/>
            <a:ext cx="2079724" cy="596900"/>
          </a:xfrm>
          <a:prstGeom prst="rect">
            <a:avLst/>
          </a:prstGeom>
        </p:spPr>
        <p:txBody>
          <a:bodyPr anchor="t" rtlCol="false" tIns="0" lIns="0" bIns="0" rIns="0">
            <a:spAutoFit/>
          </a:bodyPr>
          <a:lstStyle/>
          <a:p>
            <a:pPr algn="ctr">
              <a:lnSpc>
                <a:spcPts val="4900"/>
              </a:lnSpc>
            </a:pPr>
            <a:r>
              <a:rPr lang="en-US" sz="3500" b="true">
                <a:solidFill>
                  <a:srgbClr val="080606"/>
                </a:solidFill>
                <a:latin typeface="Antonio Bold"/>
                <a:ea typeface="Antonio Bold"/>
                <a:cs typeface="Antonio Bold"/>
                <a:sym typeface="Antonio Bold"/>
              </a:rPr>
              <a:t>Frustations:</a:t>
            </a:r>
          </a:p>
        </p:txBody>
      </p:sp>
      <p:sp>
        <p:nvSpPr>
          <p:cNvPr name="TextBox 10" id="10"/>
          <p:cNvSpPr txBox="true"/>
          <p:nvPr/>
        </p:nvSpPr>
        <p:spPr>
          <a:xfrm rot="0">
            <a:off x="9574743" y="6048130"/>
            <a:ext cx="4518868" cy="17367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80606"/>
                </a:solidFill>
                <a:latin typeface="Canva Sans"/>
                <a:ea typeface="Canva Sans"/>
                <a:cs typeface="Canva Sans"/>
                <a:sym typeface="Canva Sans"/>
              </a:rPr>
              <a:t>Long sitting</a:t>
            </a:r>
            <a:r>
              <a:rPr lang="en-US" sz="2499">
                <a:solidFill>
                  <a:srgbClr val="080606"/>
                </a:solidFill>
                <a:latin typeface="Canva Sans"/>
                <a:ea typeface="Canva Sans"/>
                <a:cs typeface="Canva Sans"/>
                <a:sym typeface="Canva Sans"/>
              </a:rPr>
              <a:t> hours</a:t>
            </a:r>
          </a:p>
          <a:p>
            <a:pPr algn="l" marL="539749" indent="-269875" lvl="1">
              <a:lnSpc>
                <a:spcPts val="3499"/>
              </a:lnSpc>
              <a:buFont typeface="Arial"/>
              <a:buChar char="•"/>
            </a:pPr>
            <a:r>
              <a:rPr lang="en-US" sz="2499">
                <a:solidFill>
                  <a:srgbClr val="080606"/>
                </a:solidFill>
                <a:latin typeface="Canva Sans"/>
                <a:ea typeface="Canva Sans"/>
                <a:cs typeface="Canva Sans"/>
                <a:sym typeface="Canva Sans"/>
              </a:rPr>
              <a:t>Fo</a:t>
            </a:r>
            <a:r>
              <a:rPr lang="en-US" sz="2499">
                <a:solidFill>
                  <a:srgbClr val="080606"/>
                </a:solidFill>
                <a:latin typeface="Canva Sans"/>
                <a:ea typeface="Canva Sans"/>
                <a:cs typeface="Canva Sans"/>
                <a:sym typeface="Canva Sans"/>
              </a:rPr>
              <a:t>rgetting exercise breaks</a:t>
            </a:r>
          </a:p>
          <a:p>
            <a:pPr algn="l" marL="539749" indent="-269875" lvl="1">
              <a:lnSpc>
                <a:spcPts val="3499"/>
              </a:lnSpc>
              <a:buFont typeface="Arial"/>
              <a:buChar char="•"/>
            </a:pPr>
            <a:r>
              <a:rPr lang="en-US" sz="2499">
                <a:solidFill>
                  <a:srgbClr val="080606"/>
                </a:solidFill>
                <a:latin typeface="Canva Sans"/>
                <a:ea typeface="Canva Sans"/>
                <a:cs typeface="Canva Sans"/>
                <a:sym typeface="Canva Sans"/>
              </a:rPr>
              <a:t>Complic</a:t>
            </a:r>
            <a:r>
              <a:rPr lang="en-US" sz="2499">
                <a:solidFill>
                  <a:srgbClr val="080606"/>
                </a:solidFill>
                <a:latin typeface="Canva Sans"/>
                <a:ea typeface="Canva Sans"/>
                <a:cs typeface="Canva Sans"/>
                <a:sym typeface="Canva Sans"/>
              </a:rPr>
              <a:t>ated fitness apps</a:t>
            </a:r>
          </a:p>
          <a:p>
            <a:pPr algn="l" marL="539749" indent="-269875" lvl="1">
              <a:lnSpc>
                <a:spcPts val="3499"/>
              </a:lnSpc>
              <a:buFont typeface="Arial"/>
              <a:buChar char="•"/>
            </a:pPr>
            <a:r>
              <a:rPr lang="en-US" sz="2499">
                <a:solidFill>
                  <a:srgbClr val="080606"/>
                </a:solidFill>
                <a:latin typeface="Canva Sans"/>
                <a:ea typeface="Canva Sans"/>
                <a:cs typeface="Canva Sans"/>
                <a:sym typeface="Canva Sans"/>
              </a:rPr>
              <a:t>Low consistency</a:t>
            </a:r>
          </a:p>
        </p:txBody>
      </p:sp>
      <p:sp>
        <p:nvSpPr>
          <p:cNvPr name="TextBox 11" id="11"/>
          <p:cNvSpPr txBox="true"/>
          <p:nvPr/>
        </p:nvSpPr>
        <p:spPr>
          <a:xfrm rot="0">
            <a:off x="8468132" y="7718180"/>
            <a:ext cx="1822698" cy="596900"/>
          </a:xfrm>
          <a:prstGeom prst="rect">
            <a:avLst/>
          </a:prstGeom>
        </p:spPr>
        <p:txBody>
          <a:bodyPr anchor="t" rtlCol="false" tIns="0" lIns="0" bIns="0" rIns="0">
            <a:spAutoFit/>
          </a:bodyPr>
          <a:lstStyle/>
          <a:p>
            <a:pPr algn="ctr">
              <a:lnSpc>
                <a:spcPts val="4900"/>
              </a:lnSpc>
            </a:pPr>
            <a:r>
              <a:rPr lang="en-US" sz="3500" b="true">
                <a:solidFill>
                  <a:srgbClr val="080606"/>
                </a:solidFill>
                <a:latin typeface="Antonio Bold"/>
                <a:ea typeface="Antonio Bold"/>
                <a:cs typeface="Antonio Bold"/>
                <a:sym typeface="Antonio Bold"/>
              </a:rPr>
              <a:t>Behaviors:</a:t>
            </a:r>
          </a:p>
        </p:txBody>
      </p:sp>
      <p:sp>
        <p:nvSpPr>
          <p:cNvPr name="TextBox 12" id="12"/>
          <p:cNvSpPr txBox="true"/>
          <p:nvPr/>
        </p:nvSpPr>
        <p:spPr>
          <a:xfrm rot="0">
            <a:off x="9807808" y="8343655"/>
            <a:ext cx="4468713" cy="129857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80606"/>
                </a:solidFill>
                <a:latin typeface="Canva Sans"/>
                <a:ea typeface="Canva Sans"/>
                <a:cs typeface="Canva Sans"/>
                <a:sym typeface="Canva Sans"/>
              </a:rPr>
              <a:t>Works</a:t>
            </a:r>
            <a:r>
              <a:rPr lang="en-US" sz="2499">
                <a:solidFill>
                  <a:srgbClr val="080606"/>
                </a:solidFill>
                <a:latin typeface="Canva Sans"/>
                <a:ea typeface="Canva Sans"/>
                <a:cs typeface="Canva Sans"/>
                <a:sym typeface="Canva Sans"/>
              </a:rPr>
              <a:t> on laptop all day</a:t>
            </a:r>
          </a:p>
          <a:p>
            <a:pPr algn="ctr" marL="539749" indent="-269875" lvl="1">
              <a:lnSpc>
                <a:spcPts val="3499"/>
              </a:lnSpc>
              <a:buFont typeface="Arial"/>
              <a:buChar char="•"/>
            </a:pPr>
            <a:r>
              <a:rPr lang="en-US" sz="2499">
                <a:solidFill>
                  <a:srgbClr val="080606"/>
                </a:solidFill>
                <a:latin typeface="Canva Sans"/>
                <a:ea typeface="Canva Sans"/>
                <a:cs typeface="Canva Sans"/>
                <a:sym typeface="Canva Sans"/>
              </a:rPr>
              <a:t>R</a:t>
            </a:r>
            <a:r>
              <a:rPr lang="en-US" sz="2499">
                <a:solidFill>
                  <a:srgbClr val="080606"/>
                </a:solidFill>
                <a:latin typeface="Canva Sans"/>
                <a:ea typeface="Canva Sans"/>
                <a:cs typeface="Canva Sans"/>
                <a:sym typeface="Canva Sans"/>
              </a:rPr>
              <a:t>arely moves during work</a:t>
            </a:r>
          </a:p>
          <a:p>
            <a:pPr algn="l" marL="539749" indent="-269875" lvl="1">
              <a:lnSpc>
                <a:spcPts val="3499"/>
              </a:lnSpc>
              <a:buFont typeface="Arial"/>
              <a:buChar char="•"/>
            </a:pPr>
            <a:r>
              <a:rPr lang="en-US" sz="2499">
                <a:solidFill>
                  <a:srgbClr val="080606"/>
                </a:solidFill>
                <a:latin typeface="Canva Sans"/>
                <a:ea typeface="Canva Sans"/>
                <a:cs typeface="Canva Sans"/>
                <a:sym typeface="Canva Sans"/>
              </a:rPr>
              <a:t>Prefers simple apps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55666D"/>
        </a:solidFill>
      </p:bgPr>
    </p:bg>
    <p:spTree>
      <p:nvGrpSpPr>
        <p:cNvPr id="1" name=""/>
        <p:cNvGrpSpPr/>
        <p:nvPr/>
      </p:nvGrpSpPr>
      <p:grpSpPr>
        <a:xfrm>
          <a:off x="0" y="0"/>
          <a:ext cx="0" cy="0"/>
          <a:chOff x="0" y="0"/>
          <a:chExt cx="0" cy="0"/>
        </a:xfrm>
      </p:grpSpPr>
      <p:grpSp>
        <p:nvGrpSpPr>
          <p:cNvPr name="Group 2" id="2"/>
          <p:cNvGrpSpPr/>
          <p:nvPr/>
        </p:nvGrpSpPr>
        <p:grpSpPr>
          <a:xfrm rot="0">
            <a:off x="285750" y="285750"/>
            <a:ext cx="5969000" cy="5271025"/>
            <a:chOff x="0" y="0"/>
            <a:chExt cx="7958667" cy="7028033"/>
          </a:xfrm>
        </p:grpSpPr>
        <p:pic>
          <p:nvPicPr>
            <p:cNvPr name="Picture 3" id="3"/>
            <p:cNvPicPr>
              <a:picLocks noChangeAspect="true"/>
            </p:cNvPicPr>
            <p:nvPr/>
          </p:nvPicPr>
          <p:blipFill>
            <a:blip r:embed="rId2"/>
            <a:srcRect l="0" t="20908" r="1290" b="20908"/>
            <a:stretch>
              <a:fillRect/>
            </a:stretch>
          </p:blipFill>
          <p:spPr>
            <a:xfrm flipH="false" flipV="false">
              <a:off x="0" y="0"/>
              <a:ext cx="7958667" cy="7028033"/>
            </a:xfrm>
            <a:prstGeom prst="rect">
              <a:avLst/>
            </a:prstGeom>
          </p:spPr>
        </p:pic>
      </p:grpSp>
      <p:grpSp>
        <p:nvGrpSpPr>
          <p:cNvPr name="Group 4" id="4"/>
          <p:cNvGrpSpPr/>
          <p:nvPr/>
        </p:nvGrpSpPr>
        <p:grpSpPr>
          <a:xfrm rot="0">
            <a:off x="6254750" y="285750"/>
            <a:ext cx="11747500" cy="7137077"/>
            <a:chOff x="0" y="0"/>
            <a:chExt cx="3093992" cy="1879724"/>
          </a:xfrm>
        </p:grpSpPr>
        <p:sp>
          <p:nvSpPr>
            <p:cNvPr name="Freeform 5" id="5"/>
            <p:cNvSpPr/>
            <p:nvPr/>
          </p:nvSpPr>
          <p:spPr>
            <a:xfrm flipH="false" flipV="false" rot="0">
              <a:off x="0" y="0"/>
              <a:ext cx="3093992" cy="1879724"/>
            </a:xfrm>
            <a:custGeom>
              <a:avLst/>
              <a:gdLst/>
              <a:ahLst/>
              <a:cxnLst/>
              <a:rect r="r" b="b" t="t" l="l"/>
              <a:pathLst>
                <a:path h="1879724" w="3093992">
                  <a:moveTo>
                    <a:pt x="0" y="0"/>
                  </a:moveTo>
                  <a:lnTo>
                    <a:pt x="3093992" y="0"/>
                  </a:lnTo>
                  <a:lnTo>
                    <a:pt x="3093992" y="1879724"/>
                  </a:lnTo>
                  <a:lnTo>
                    <a:pt x="0" y="1879724"/>
                  </a:lnTo>
                  <a:close/>
                </a:path>
              </a:pathLst>
            </a:custGeom>
            <a:solidFill>
              <a:srgbClr val="D9EDB7"/>
            </a:solidFill>
          </p:spPr>
        </p:sp>
        <p:sp>
          <p:nvSpPr>
            <p:cNvPr name="TextBox 6" id="6"/>
            <p:cNvSpPr txBox="true"/>
            <p:nvPr/>
          </p:nvSpPr>
          <p:spPr>
            <a:xfrm>
              <a:off x="0" y="-95250"/>
              <a:ext cx="3093992" cy="1974974"/>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6254750" y="285750"/>
            <a:ext cx="5969000" cy="7137077"/>
            <a:chOff x="0" y="0"/>
            <a:chExt cx="1572082" cy="1879724"/>
          </a:xfrm>
        </p:grpSpPr>
        <p:sp>
          <p:nvSpPr>
            <p:cNvPr name="Freeform 8" id="8"/>
            <p:cNvSpPr/>
            <p:nvPr/>
          </p:nvSpPr>
          <p:spPr>
            <a:xfrm flipH="false" flipV="false" rot="0">
              <a:off x="0" y="0"/>
              <a:ext cx="1572082" cy="1879724"/>
            </a:xfrm>
            <a:custGeom>
              <a:avLst/>
              <a:gdLst/>
              <a:ahLst/>
              <a:cxnLst/>
              <a:rect r="r" b="b" t="t" l="l"/>
              <a:pathLst>
                <a:path h="1879724" w="1572082">
                  <a:moveTo>
                    <a:pt x="0" y="0"/>
                  </a:moveTo>
                  <a:lnTo>
                    <a:pt x="1572082" y="0"/>
                  </a:lnTo>
                  <a:lnTo>
                    <a:pt x="1572082" y="1879724"/>
                  </a:lnTo>
                  <a:lnTo>
                    <a:pt x="0" y="1879724"/>
                  </a:lnTo>
                  <a:close/>
                </a:path>
              </a:pathLst>
            </a:custGeom>
            <a:solidFill>
              <a:srgbClr val="080606"/>
            </a:solidFill>
          </p:spPr>
        </p:sp>
        <p:sp>
          <p:nvSpPr>
            <p:cNvPr name="TextBox 9" id="9"/>
            <p:cNvSpPr txBox="true"/>
            <p:nvPr/>
          </p:nvSpPr>
          <p:spPr>
            <a:xfrm>
              <a:off x="0" y="-95250"/>
              <a:ext cx="1572082" cy="1974974"/>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6254750" y="5556775"/>
            <a:ext cx="5969000" cy="4444475"/>
            <a:chOff x="0" y="0"/>
            <a:chExt cx="1572082" cy="1170561"/>
          </a:xfrm>
        </p:grpSpPr>
        <p:sp>
          <p:nvSpPr>
            <p:cNvPr name="Freeform 11" id="11"/>
            <p:cNvSpPr/>
            <p:nvPr/>
          </p:nvSpPr>
          <p:spPr>
            <a:xfrm flipH="false" flipV="false" rot="0">
              <a:off x="0" y="0"/>
              <a:ext cx="1572082" cy="1170561"/>
            </a:xfrm>
            <a:custGeom>
              <a:avLst/>
              <a:gdLst/>
              <a:ahLst/>
              <a:cxnLst/>
              <a:rect r="r" b="b" t="t" l="l"/>
              <a:pathLst>
                <a:path h="1170561" w="1572082">
                  <a:moveTo>
                    <a:pt x="0" y="0"/>
                  </a:moveTo>
                  <a:lnTo>
                    <a:pt x="1572082" y="0"/>
                  </a:lnTo>
                  <a:lnTo>
                    <a:pt x="1572082" y="1170561"/>
                  </a:lnTo>
                  <a:lnTo>
                    <a:pt x="0" y="1170561"/>
                  </a:lnTo>
                  <a:close/>
                </a:path>
              </a:pathLst>
            </a:custGeom>
            <a:solidFill>
              <a:srgbClr val="FFFFFF"/>
            </a:solidFill>
          </p:spPr>
        </p:sp>
        <p:sp>
          <p:nvSpPr>
            <p:cNvPr name="TextBox 12" id="12"/>
            <p:cNvSpPr txBox="true"/>
            <p:nvPr/>
          </p:nvSpPr>
          <p:spPr>
            <a:xfrm>
              <a:off x="0" y="-95250"/>
              <a:ext cx="1572082" cy="1265811"/>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2223750" y="5556775"/>
            <a:ext cx="5778500" cy="4444475"/>
            <a:chOff x="0" y="0"/>
            <a:chExt cx="1521909" cy="1170561"/>
          </a:xfrm>
        </p:grpSpPr>
        <p:sp>
          <p:nvSpPr>
            <p:cNvPr name="Freeform 14" id="14"/>
            <p:cNvSpPr/>
            <p:nvPr/>
          </p:nvSpPr>
          <p:spPr>
            <a:xfrm flipH="false" flipV="false" rot="0">
              <a:off x="0" y="0"/>
              <a:ext cx="1521909" cy="1170561"/>
            </a:xfrm>
            <a:custGeom>
              <a:avLst/>
              <a:gdLst/>
              <a:ahLst/>
              <a:cxnLst/>
              <a:rect r="r" b="b" t="t" l="l"/>
              <a:pathLst>
                <a:path h="1170561" w="1521909">
                  <a:moveTo>
                    <a:pt x="0" y="0"/>
                  </a:moveTo>
                  <a:lnTo>
                    <a:pt x="1521909" y="0"/>
                  </a:lnTo>
                  <a:lnTo>
                    <a:pt x="1521909" y="1170561"/>
                  </a:lnTo>
                  <a:lnTo>
                    <a:pt x="0" y="1170561"/>
                  </a:lnTo>
                  <a:close/>
                </a:path>
              </a:pathLst>
            </a:custGeom>
            <a:solidFill>
              <a:srgbClr val="080606"/>
            </a:solidFill>
          </p:spPr>
        </p:sp>
        <p:sp>
          <p:nvSpPr>
            <p:cNvPr name="TextBox 15" id="15"/>
            <p:cNvSpPr txBox="true"/>
            <p:nvPr/>
          </p:nvSpPr>
          <p:spPr>
            <a:xfrm>
              <a:off x="0" y="-95250"/>
              <a:ext cx="1521909" cy="1265811"/>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3025712" y="6366637"/>
            <a:ext cx="3226813" cy="661035"/>
          </a:xfrm>
          <a:prstGeom prst="rect">
            <a:avLst/>
          </a:prstGeom>
        </p:spPr>
        <p:txBody>
          <a:bodyPr anchor="t" rtlCol="false" tIns="0" lIns="0" bIns="0" rIns="0">
            <a:spAutoFit/>
          </a:bodyPr>
          <a:lstStyle/>
          <a:p>
            <a:pPr algn="l" marL="0" indent="0" lvl="0">
              <a:lnSpc>
                <a:spcPts val="5219"/>
              </a:lnSpc>
              <a:spcBef>
                <a:spcPct val="0"/>
              </a:spcBef>
            </a:pPr>
            <a:r>
              <a:rPr lang="en-US" b="true" sz="4499" spc="-305">
                <a:solidFill>
                  <a:srgbClr val="D9EDB7"/>
                </a:solidFill>
                <a:latin typeface="Antonio Bold"/>
                <a:ea typeface="Antonio Bold"/>
                <a:cs typeface="Antonio Bold"/>
                <a:sym typeface="Antonio Bold"/>
              </a:rPr>
              <a:t>DOES </a:t>
            </a:r>
          </a:p>
        </p:txBody>
      </p:sp>
      <p:sp>
        <p:nvSpPr>
          <p:cNvPr name="TextBox 17" id="17"/>
          <p:cNvSpPr txBox="true"/>
          <p:nvPr/>
        </p:nvSpPr>
        <p:spPr>
          <a:xfrm rot="0">
            <a:off x="6807591" y="906276"/>
            <a:ext cx="3684939" cy="661035"/>
          </a:xfrm>
          <a:prstGeom prst="rect">
            <a:avLst/>
          </a:prstGeom>
        </p:spPr>
        <p:txBody>
          <a:bodyPr anchor="t" rtlCol="false" tIns="0" lIns="0" bIns="0" rIns="0">
            <a:spAutoFit/>
          </a:bodyPr>
          <a:lstStyle/>
          <a:p>
            <a:pPr algn="l" marL="0" indent="0" lvl="0">
              <a:lnSpc>
                <a:spcPts val="5219"/>
              </a:lnSpc>
              <a:spcBef>
                <a:spcPct val="0"/>
              </a:spcBef>
            </a:pPr>
            <a:r>
              <a:rPr lang="en-US" b="true" sz="4499" spc="-305">
                <a:solidFill>
                  <a:srgbClr val="D9EDB7"/>
                </a:solidFill>
                <a:latin typeface="Antonio Bold"/>
                <a:ea typeface="Antonio Bold"/>
                <a:cs typeface="Antonio Bold"/>
                <a:sym typeface="Antonio Bold"/>
              </a:rPr>
              <a:t>THINKS</a:t>
            </a:r>
          </a:p>
        </p:txBody>
      </p:sp>
      <p:sp>
        <p:nvSpPr>
          <p:cNvPr name="TextBox 18" id="18"/>
          <p:cNvSpPr txBox="true"/>
          <p:nvPr/>
        </p:nvSpPr>
        <p:spPr>
          <a:xfrm rot="0">
            <a:off x="13025712" y="906276"/>
            <a:ext cx="3226813" cy="661035"/>
          </a:xfrm>
          <a:prstGeom prst="rect">
            <a:avLst/>
          </a:prstGeom>
        </p:spPr>
        <p:txBody>
          <a:bodyPr anchor="t" rtlCol="false" tIns="0" lIns="0" bIns="0" rIns="0">
            <a:spAutoFit/>
          </a:bodyPr>
          <a:lstStyle/>
          <a:p>
            <a:pPr algn="l" marL="0" indent="0" lvl="0">
              <a:lnSpc>
                <a:spcPts val="5219"/>
              </a:lnSpc>
              <a:spcBef>
                <a:spcPct val="0"/>
              </a:spcBef>
            </a:pPr>
            <a:r>
              <a:rPr lang="en-US" b="true" sz="4499" spc="-305">
                <a:solidFill>
                  <a:srgbClr val="55666D"/>
                </a:solidFill>
                <a:latin typeface="Antonio Bold"/>
                <a:ea typeface="Antonio Bold"/>
                <a:cs typeface="Antonio Bold"/>
                <a:sym typeface="Antonio Bold"/>
              </a:rPr>
              <a:t>FEELS </a:t>
            </a:r>
          </a:p>
        </p:txBody>
      </p:sp>
      <p:sp>
        <p:nvSpPr>
          <p:cNvPr name="TextBox 19" id="19"/>
          <p:cNvSpPr txBox="true"/>
          <p:nvPr/>
        </p:nvSpPr>
        <p:spPr>
          <a:xfrm rot="0">
            <a:off x="12558665" y="7000308"/>
            <a:ext cx="5108671" cy="2684263"/>
          </a:xfrm>
          <a:prstGeom prst="rect">
            <a:avLst/>
          </a:prstGeom>
        </p:spPr>
        <p:txBody>
          <a:bodyPr anchor="t" rtlCol="false" tIns="0" lIns="0" bIns="0" rIns="0">
            <a:spAutoFit/>
          </a:bodyPr>
          <a:lstStyle/>
          <a:p>
            <a:pPr algn="l" marL="571502" indent="-285751" lvl="1">
              <a:lnSpc>
                <a:spcPts val="2911"/>
              </a:lnSpc>
              <a:buFont typeface="Arial"/>
              <a:buChar char="•"/>
            </a:pPr>
            <a:r>
              <a:rPr lang="en-US" sz="2647">
                <a:solidFill>
                  <a:srgbClr val="D9EDB7"/>
                </a:solidFill>
                <a:latin typeface="Canva Sans"/>
                <a:ea typeface="Canva Sans"/>
                <a:cs typeface="Canva Sans"/>
                <a:sym typeface="Canva Sans"/>
              </a:rPr>
              <a:t>Skips wo</a:t>
            </a:r>
            <a:r>
              <a:rPr lang="en-US" sz="2647" strike="noStrike" u="none">
                <a:solidFill>
                  <a:srgbClr val="D9EDB7"/>
                </a:solidFill>
                <a:latin typeface="Canva Sans"/>
                <a:ea typeface="Canva Sans"/>
                <a:cs typeface="Canva Sans"/>
                <a:sym typeface="Canva Sans"/>
              </a:rPr>
              <a:t>r</a:t>
            </a:r>
            <a:r>
              <a:rPr lang="en-US" sz="2647" strike="noStrike" u="none">
                <a:solidFill>
                  <a:srgbClr val="D9EDB7"/>
                </a:solidFill>
                <a:latin typeface="Canva Sans"/>
                <a:ea typeface="Canva Sans"/>
                <a:cs typeface="Canva Sans"/>
                <a:sym typeface="Canva Sans"/>
              </a:rPr>
              <a:t>k</a:t>
            </a:r>
            <a:r>
              <a:rPr lang="en-US" sz="2647" strike="noStrike" u="none">
                <a:solidFill>
                  <a:srgbClr val="D9EDB7"/>
                </a:solidFill>
                <a:latin typeface="Canva Sans"/>
                <a:ea typeface="Canva Sans"/>
                <a:cs typeface="Canva Sans"/>
                <a:sym typeface="Canva Sans"/>
              </a:rPr>
              <a:t>outs</a:t>
            </a:r>
          </a:p>
          <a:p>
            <a:pPr algn="l" marL="571502" indent="-285751" lvl="1">
              <a:lnSpc>
                <a:spcPts val="2911"/>
              </a:lnSpc>
              <a:buFont typeface="Arial"/>
              <a:buChar char="•"/>
            </a:pPr>
            <a:r>
              <a:rPr lang="en-US" sz="2647" strike="noStrike" u="none">
                <a:solidFill>
                  <a:srgbClr val="D9EDB7"/>
                </a:solidFill>
                <a:latin typeface="Canva Sans"/>
                <a:ea typeface="Canva Sans"/>
                <a:cs typeface="Canva Sans"/>
                <a:sym typeface="Canva Sans"/>
              </a:rPr>
              <a:t>Work</a:t>
            </a:r>
            <a:r>
              <a:rPr lang="en-US" sz="2647" strike="noStrike" u="none">
                <a:solidFill>
                  <a:srgbClr val="D9EDB7"/>
                </a:solidFill>
                <a:latin typeface="Canva Sans"/>
                <a:ea typeface="Canva Sans"/>
                <a:cs typeface="Canva Sans"/>
                <a:sym typeface="Canva Sans"/>
              </a:rPr>
              <a:t>s long hours</a:t>
            </a:r>
          </a:p>
          <a:p>
            <a:pPr algn="l" marL="571502" indent="-285751" lvl="1">
              <a:lnSpc>
                <a:spcPts val="2911"/>
              </a:lnSpc>
              <a:buFont typeface="Arial"/>
              <a:buChar char="•"/>
            </a:pPr>
            <a:r>
              <a:rPr lang="en-US" sz="2647" strike="noStrike" u="none">
                <a:solidFill>
                  <a:srgbClr val="D9EDB7"/>
                </a:solidFill>
                <a:latin typeface="Canva Sans"/>
                <a:ea typeface="Canva Sans"/>
                <a:cs typeface="Canva Sans"/>
                <a:sym typeface="Canva Sans"/>
              </a:rPr>
              <a:t>Sea</a:t>
            </a:r>
            <a:r>
              <a:rPr lang="en-US" sz="2647" strike="noStrike" u="none">
                <a:solidFill>
                  <a:srgbClr val="D9EDB7"/>
                </a:solidFill>
                <a:latin typeface="Canva Sans"/>
                <a:ea typeface="Canva Sans"/>
                <a:cs typeface="Canva Sans"/>
                <a:sym typeface="Canva Sans"/>
              </a:rPr>
              <a:t>rches qu</a:t>
            </a:r>
            <a:r>
              <a:rPr lang="en-US" sz="2647" strike="noStrike" u="none">
                <a:solidFill>
                  <a:srgbClr val="D9EDB7"/>
                </a:solidFill>
                <a:latin typeface="Canva Sans"/>
                <a:ea typeface="Canva Sans"/>
                <a:cs typeface="Canva Sans"/>
                <a:sym typeface="Canva Sans"/>
              </a:rPr>
              <a:t>i</a:t>
            </a:r>
            <a:r>
              <a:rPr lang="en-US" sz="2647" strike="noStrike" u="none">
                <a:solidFill>
                  <a:srgbClr val="D9EDB7"/>
                </a:solidFill>
                <a:latin typeface="Canva Sans"/>
                <a:ea typeface="Canva Sans"/>
                <a:cs typeface="Canva Sans"/>
                <a:sym typeface="Canva Sans"/>
              </a:rPr>
              <a:t>ck w</a:t>
            </a:r>
            <a:r>
              <a:rPr lang="en-US" sz="2647" strike="noStrike" u="none">
                <a:solidFill>
                  <a:srgbClr val="D9EDB7"/>
                </a:solidFill>
                <a:latin typeface="Canva Sans"/>
                <a:ea typeface="Canva Sans"/>
                <a:cs typeface="Canva Sans"/>
                <a:sym typeface="Canva Sans"/>
              </a:rPr>
              <a:t>o</a:t>
            </a:r>
            <a:r>
              <a:rPr lang="en-US" sz="2647" strike="noStrike" u="none">
                <a:solidFill>
                  <a:srgbClr val="D9EDB7"/>
                </a:solidFill>
                <a:latin typeface="Canva Sans"/>
                <a:ea typeface="Canva Sans"/>
                <a:cs typeface="Canva Sans"/>
                <a:sym typeface="Canva Sans"/>
              </a:rPr>
              <a:t>rk</a:t>
            </a:r>
            <a:r>
              <a:rPr lang="en-US" sz="2647" strike="noStrike" u="none">
                <a:solidFill>
                  <a:srgbClr val="D9EDB7"/>
                </a:solidFill>
                <a:latin typeface="Canva Sans"/>
                <a:ea typeface="Canva Sans"/>
                <a:cs typeface="Canva Sans"/>
                <a:sym typeface="Canva Sans"/>
              </a:rPr>
              <a:t>o</a:t>
            </a:r>
            <a:r>
              <a:rPr lang="en-US" sz="2647" strike="noStrike" u="none">
                <a:solidFill>
                  <a:srgbClr val="D9EDB7"/>
                </a:solidFill>
                <a:latin typeface="Canva Sans"/>
                <a:ea typeface="Canva Sans"/>
                <a:cs typeface="Canva Sans"/>
                <a:sym typeface="Canva Sans"/>
              </a:rPr>
              <a:t>u</a:t>
            </a:r>
            <a:r>
              <a:rPr lang="en-US" sz="2647" strike="noStrike" u="none">
                <a:solidFill>
                  <a:srgbClr val="D9EDB7"/>
                </a:solidFill>
                <a:latin typeface="Canva Sans"/>
                <a:ea typeface="Canva Sans"/>
                <a:cs typeface="Canva Sans"/>
                <a:sym typeface="Canva Sans"/>
              </a:rPr>
              <a:t>t v</a:t>
            </a:r>
            <a:r>
              <a:rPr lang="en-US" sz="2647" strike="noStrike" u="none">
                <a:solidFill>
                  <a:srgbClr val="D9EDB7"/>
                </a:solidFill>
                <a:latin typeface="Canva Sans"/>
                <a:ea typeface="Canva Sans"/>
                <a:cs typeface="Canva Sans"/>
                <a:sym typeface="Canva Sans"/>
              </a:rPr>
              <a:t>id</a:t>
            </a:r>
            <a:r>
              <a:rPr lang="en-US" sz="2647" strike="noStrike" u="none">
                <a:solidFill>
                  <a:srgbClr val="D9EDB7"/>
                </a:solidFill>
                <a:latin typeface="Canva Sans"/>
                <a:ea typeface="Canva Sans"/>
                <a:cs typeface="Canva Sans"/>
                <a:sym typeface="Canva Sans"/>
              </a:rPr>
              <a:t>eos</a:t>
            </a:r>
          </a:p>
          <a:p>
            <a:pPr algn="l" marL="571502" indent="-285751" lvl="1">
              <a:lnSpc>
                <a:spcPts val="2911"/>
              </a:lnSpc>
              <a:buFont typeface="Arial"/>
              <a:buChar char="•"/>
            </a:pPr>
            <a:r>
              <a:rPr lang="en-US" sz="2647" strike="noStrike" u="none">
                <a:solidFill>
                  <a:srgbClr val="D9EDB7"/>
                </a:solidFill>
                <a:latin typeface="Canva Sans"/>
                <a:ea typeface="Canva Sans"/>
                <a:cs typeface="Canva Sans"/>
                <a:sym typeface="Canva Sans"/>
              </a:rPr>
              <a:t>Occasi</a:t>
            </a:r>
            <a:r>
              <a:rPr lang="en-US" sz="2647" strike="noStrike" u="none">
                <a:solidFill>
                  <a:srgbClr val="D9EDB7"/>
                </a:solidFill>
                <a:latin typeface="Canva Sans"/>
                <a:ea typeface="Canva Sans"/>
                <a:cs typeface="Canva Sans"/>
                <a:sym typeface="Canva Sans"/>
              </a:rPr>
              <a:t>onall</a:t>
            </a:r>
            <a:r>
              <a:rPr lang="en-US" sz="2647" strike="noStrike" u="none">
                <a:solidFill>
                  <a:srgbClr val="D9EDB7"/>
                </a:solidFill>
                <a:latin typeface="Canva Sans"/>
                <a:ea typeface="Canva Sans"/>
                <a:cs typeface="Canva Sans"/>
                <a:sym typeface="Canva Sans"/>
              </a:rPr>
              <a:t>y walks o</a:t>
            </a:r>
            <a:r>
              <a:rPr lang="en-US" sz="2647" strike="noStrike" u="none">
                <a:solidFill>
                  <a:srgbClr val="D9EDB7"/>
                </a:solidFill>
                <a:latin typeface="Canva Sans"/>
                <a:ea typeface="Canva Sans"/>
                <a:cs typeface="Canva Sans"/>
                <a:sym typeface="Canva Sans"/>
              </a:rPr>
              <a:t>r stretch</a:t>
            </a:r>
            <a:r>
              <a:rPr lang="en-US" sz="2647" strike="noStrike" u="none">
                <a:solidFill>
                  <a:srgbClr val="D9EDB7"/>
                </a:solidFill>
                <a:latin typeface="Canva Sans"/>
                <a:ea typeface="Canva Sans"/>
                <a:cs typeface="Canva Sans"/>
                <a:sym typeface="Canva Sans"/>
              </a:rPr>
              <a:t>es</a:t>
            </a:r>
          </a:p>
          <a:p>
            <a:pPr algn="l" marL="0" indent="0" lvl="0">
              <a:lnSpc>
                <a:spcPts val="3924"/>
              </a:lnSpc>
            </a:pPr>
          </a:p>
        </p:txBody>
      </p:sp>
      <p:sp>
        <p:nvSpPr>
          <p:cNvPr name="TextBox 20" id="20"/>
          <p:cNvSpPr txBox="true"/>
          <p:nvPr/>
        </p:nvSpPr>
        <p:spPr>
          <a:xfrm rot="0">
            <a:off x="-290142" y="6062981"/>
            <a:ext cx="6764222" cy="3195319"/>
          </a:xfrm>
          <a:prstGeom prst="rect">
            <a:avLst/>
          </a:prstGeom>
        </p:spPr>
        <p:txBody>
          <a:bodyPr anchor="t" rtlCol="false" tIns="0" lIns="0" bIns="0" rIns="0">
            <a:spAutoFit/>
          </a:bodyPr>
          <a:lstStyle/>
          <a:p>
            <a:pPr algn="ctr">
              <a:lnSpc>
                <a:spcPts val="12880"/>
              </a:lnSpc>
            </a:pPr>
            <a:r>
              <a:rPr lang="en-US" sz="9200" b="true">
                <a:solidFill>
                  <a:srgbClr val="D9EDB7"/>
                </a:solidFill>
                <a:latin typeface="Antonio Bold"/>
                <a:ea typeface="Antonio Bold"/>
                <a:cs typeface="Antonio Bold"/>
                <a:sym typeface="Antonio Bold"/>
              </a:rPr>
              <a:t>EMPATHY </a:t>
            </a:r>
          </a:p>
          <a:p>
            <a:pPr algn="ctr">
              <a:lnSpc>
                <a:spcPts val="12880"/>
              </a:lnSpc>
            </a:pPr>
            <a:r>
              <a:rPr lang="en-US" sz="9200" b="true">
                <a:solidFill>
                  <a:srgbClr val="D9EDB7"/>
                </a:solidFill>
                <a:latin typeface="Antonio Bold"/>
                <a:ea typeface="Antonio Bold"/>
                <a:cs typeface="Antonio Bold"/>
                <a:sym typeface="Antonio Bold"/>
              </a:rPr>
              <a:t>MAP</a:t>
            </a:r>
          </a:p>
        </p:txBody>
      </p:sp>
      <p:sp>
        <p:nvSpPr>
          <p:cNvPr name="TextBox 21" id="21"/>
          <p:cNvSpPr txBox="true"/>
          <p:nvPr/>
        </p:nvSpPr>
        <p:spPr>
          <a:xfrm rot="0">
            <a:off x="5771353" y="2260442"/>
            <a:ext cx="5757416" cy="2150110"/>
          </a:xfrm>
          <a:prstGeom prst="rect">
            <a:avLst/>
          </a:prstGeom>
        </p:spPr>
        <p:txBody>
          <a:bodyPr anchor="t" rtlCol="false" tIns="0" lIns="0" bIns="0" rIns="0">
            <a:spAutoFit/>
          </a:bodyPr>
          <a:lstStyle/>
          <a:p>
            <a:pPr algn="ctr" marL="669291" indent="-334646" lvl="1">
              <a:lnSpc>
                <a:spcPts val="4340"/>
              </a:lnSpc>
              <a:buFont typeface="Arial"/>
              <a:buChar char="•"/>
            </a:pPr>
            <a:r>
              <a:rPr lang="en-US" sz="3100">
                <a:solidFill>
                  <a:srgbClr val="D9EDB7"/>
                </a:solidFill>
                <a:latin typeface="Canva Sans"/>
                <a:ea typeface="Canva Sans"/>
                <a:cs typeface="Canva Sans"/>
                <a:sym typeface="Canva Sans"/>
              </a:rPr>
              <a:t>“I shoul</a:t>
            </a:r>
            <a:r>
              <a:rPr lang="en-US" sz="3100">
                <a:solidFill>
                  <a:srgbClr val="D9EDB7"/>
                </a:solidFill>
                <a:latin typeface="Canva Sans"/>
                <a:ea typeface="Canva Sans"/>
                <a:cs typeface="Canva Sans"/>
                <a:sym typeface="Canva Sans"/>
              </a:rPr>
              <a:t>d exercise more.”</a:t>
            </a:r>
          </a:p>
          <a:p>
            <a:pPr algn="ctr" marL="669291" indent="-334646" lvl="1">
              <a:lnSpc>
                <a:spcPts val="4340"/>
              </a:lnSpc>
              <a:buFont typeface="Arial"/>
              <a:buChar char="•"/>
            </a:pPr>
            <a:r>
              <a:rPr lang="en-US" sz="3100">
                <a:solidFill>
                  <a:srgbClr val="D9EDB7"/>
                </a:solidFill>
                <a:latin typeface="Canva Sans"/>
                <a:ea typeface="Canva Sans"/>
                <a:cs typeface="Canva Sans"/>
                <a:sym typeface="Canva Sans"/>
              </a:rPr>
              <a:t>“I don’t have enough time.”</a:t>
            </a:r>
          </a:p>
          <a:p>
            <a:pPr algn="ctr" marL="669291" indent="-334646" lvl="1">
              <a:lnSpc>
                <a:spcPts val="4340"/>
              </a:lnSpc>
              <a:buFont typeface="Arial"/>
              <a:buChar char="•"/>
            </a:pPr>
            <a:r>
              <a:rPr lang="en-US" sz="3100">
                <a:solidFill>
                  <a:srgbClr val="D9EDB7"/>
                </a:solidFill>
                <a:latin typeface="Canva Sans"/>
                <a:ea typeface="Canva Sans"/>
                <a:cs typeface="Canva Sans"/>
                <a:sym typeface="Canva Sans"/>
              </a:rPr>
              <a:t>“I need a simple routine.”</a:t>
            </a:r>
          </a:p>
          <a:p>
            <a:pPr algn="ctr" marL="669291" indent="-334646" lvl="1">
              <a:lnSpc>
                <a:spcPts val="4340"/>
              </a:lnSpc>
              <a:buFont typeface="Arial"/>
              <a:buChar char="•"/>
            </a:pPr>
            <a:r>
              <a:rPr lang="en-US" sz="3100">
                <a:solidFill>
                  <a:srgbClr val="D9EDB7"/>
                </a:solidFill>
                <a:latin typeface="Canva Sans"/>
                <a:ea typeface="Canva Sans"/>
                <a:cs typeface="Canva Sans"/>
                <a:sym typeface="Canva Sans"/>
              </a:rPr>
              <a:t>“Maybe next week.”</a:t>
            </a:r>
          </a:p>
        </p:txBody>
      </p:sp>
      <p:sp>
        <p:nvSpPr>
          <p:cNvPr name="TextBox 22" id="22"/>
          <p:cNvSpPr txBox="true"/>
          <p:nvPr/>
        </p:nvSpPr>
        <p:spPr>
          <a:xfrm rot="0">
            <a:off x="12558665" y="2260442"/>
            <a:ext cx="3150096" cy="2150110"/>
          </a:xfrm>
          <a:prstGeom prst="rect">
            <a:avLst/>
          </a:prstGeom>
        </p:spPr>
        <p:txBody>
          <a:bodyPr anchor="t" rtlCol="false" tIns="0" lIns="0" bIns="0" rIns="0">
            <a:spAutoFit/>
          </a:bodyPr>
          <a:lstStyle/>
          <a:p>
            <a:pPr algn="ctr" marL="669291" indent="-334646" lvl="1">
              <a:lnSpc>
                <a:spcPts val="4340"/>
              </a:lnSpc>
              <a:buFont typeface="Arial"/>
              <a:buChar char="•"/>
            </a:pPr>
            <a:r>
              <a:rPr lang="en-US" sz="3100">
                <a:solidFill>
                  <a:srgbClr val="000000"/>
                </a:solidFill>
                <a:latin typeface="Canva Sans"/>
                <a:ea typeface="Canva Sans"/>
                <a:cs typeface="Canva Sans"/>
                <a:sym typeface="Canva Sans"/>
              </a:rPr>
              <a:t>Tire</a:t>
            </a:r>
            <a:r>
              <a:rPr lang="en-US" sz="3100">
                <a:solidFill>
                  <a:srgbClr val="000000"/>
                </a:solidFill>
                <a:latin typeface="Canva Sans"/>
                <a:ea typeface="Canva Sans"/>
                <a:cs typeface="Canva Sans"/>
                <a:sym typeface="Canva Sans"/>
              </a:rPr>
              <a:t>d</a:t>
            </a:r>
          </a:p>
          <a:p>
            <a:pPr algn="ctr" marL="669291" indent="-334646" lvl="1">
              <a:lnSpc>
                <a:spcPts val="4340"/>
              </a:lnSpc>
              <a:buFont typeface="Arial"/>
              <a:buChar char="•"/>
            </a:pPr>
            <a:r>
              <a:rPr lang="en-US" sz="3100">
                <a:solidFill>
                  <a:srgbClr val="000000"/>
                </a:solidFill>
                <a:latin typeface="Canva Sans"/>
                <a:ea typeface="Canva Sans"/>
                <a:cs typeface="Canva Sans"/>
                <a:sym typeface="Canva Sans"/>
              </a:rPr>
              <a:t>Guilty</a:t>
            </a:r>
          </a:p>
          <a:p>
            <a:pPr algn="ctr" marL="669291" indent="-334646" lvl="1">
              <a:lnSpc>
                <a:spcPts val="4340"/>
              </a:lnSpc>
              <a:buFont typeface="Arial"/>
              <a:buChar char="•"/>
            </a:pPr>
            <a:r>
              <a:rPr lang="en-US" sz="3100">
                <a:solidFill>
                  <a:srgbClr val="000000"/>
                </a:solidFill>
                <a:latin typeface="Canva Sans"/>
                <a:ea typeface="Canva Sans"/>
                <a:cs typeface="Canva Sans"/>
                <a:sym typeface="Canva Sans"/>
              </a:rPr>
              <a:t>Stressed</a:t>
            </a:r>
          </a:p>
          <a:p>
            <a:pPr algn="ctr" marL="669291" indent="-334646" lvl="1">
              <a:lnSpc>
                <a:spcPts val="4340"/>
              </a:lnSpc>
              <a:buFont typeface="Arial"/>
              <a:buChar char="•"/>
            </a:pPr>
            <a:r>
              <a:rPr lang="en-US" sz="3100">
                <a:solidFill>
                  <a:srgbClr val="000000"/>
                </a:solidFill>
                <a:latin typeface="Canva Sans"/>
                <a:ea typeface="Canva Sans"/>
                <a:cs typeface="Canva Sans"/>
                <a:sym typeface="Canva Sans"/>
              </a:rPr>
              <a:t>Unmotivated</a:t>
            </a:r>
          </a:p>
        </p:txBody>
      </p:sp>
      <p:sp>
        <p:nvSpPr>
          <p:cNvPr name="TextBox 23" id="23"/>
          <p:cNvSpPr txBox="true"/>
          <p:nvPr/>
        </p:nvSpPr>
        <p:spPr>
          <a:xfrm rot="0">
            <a:off x="6807591" y="5856414"/>
            <a:ext cx="1228427" cy="887095"/>
          </a:xfrm>
          <a:prstGeom prst="rect">
            <a:avLst/>
          </a:prstGeom>
        </p:spPr>
        <p:txBody>
          <a:bodyPr anchor="t" rtlCol="false" tIns="0" lIns="0" bIns="0" rIns="0">
            <a:spAutoFit/>
          </a:bodyPr>
          <a:lstStyle/>
          <a:p>
            <a:pPr algn="ctr">
              <a:lnSpc>
                <a:spcPts val="7279"/>
              </a:lnSpc>
            </a:pPr>
            <a:r>
              <a:rPr lang="en-US" b="true" sz="5199">
                <a:solidFill>
                  <a:srgbClr val="9AA882"/>
                </a:solidFill>
                <a:latin typeface="Antonio Bold"/>
                <a:ea typeface="Antonio Bold"/>
                <a:cs typeface="Antonio Bold"/>
                <a:sym typeface="Antonio Bold"/>
              </a:rPr>
              <a:t>SEES</a:t>
            </a:r>
            <a:r>
              <a:rPr lang="en-US" b="true" sz="5199">
                <a:solidFill>
                  <a:srgbClr val="9AA882"/>
                </a:solidFill>
                <a:latin typeface="Antonio Bold"/>
                <a:ea typeface="Antonio Bold"/>
                <a:cs typeface="Antonio Bold"/>
                <a:sym typeface="Antonio Bold"/>
              </a:rPr>
              <a:t> </a:t>
            </a:r>
          </a:p>
        </p:txBody>
      </p:sp>
      <p:sp>
        <p:nvSpPr>
          <p:cNvPr name="TextBox 24" id="24"/>
          <p:cNvSpPr txBox="true"/>
          <p:nvPr/>
        </p:nvSpPr>
        <p:spPr>
          <a:xfrm rot="0">
            <a:off x="6577781" y="6686360"/>
            <a:ext cx="4950988" cy="3069590"/>
          </a:xfrm>
          <a:prstGeom prst="rect">
            <a:avLst/>
          </a:prstGeom>
        </p:spPr>
        <p:txBody>
          <a:bodyPr anchor="t" rtlCol="false" tIns="0" lIns="0" bIns="0" rIns="0">
            <a:spAutoFit/>
          </a:bodyPr>
          <a:lstStyle/>
          <a:p>
            <a:pPr algn="ctr" marL="626112" indent="-313056" lvl="1">
              <a:lnSpc>
                <a:spcPts val="4060"/>
              </a:lnSpc>
              <a:buFont typeface="Arial"/>
              <a:buChar char="•"/>
            </a:pPr>
            <a:r>
              <a:rPr lang="en-US" sz="2900">
                <a:solidFill>
                  <a:srgbClr val="68764E"/>
                </a:solidFill>
                <a:latin typeface="Canva Sans"/>
                <a:ea typeface="Canva Sans"/>
                <a:cs typeface="Canva Sans"/>
                <a:sym typeface="Canva Sans"/>
              </a:rPr>
              <a:t>Fitness a</a:t>
            </a:r>
            <a:r>
              <a:rPr lang="en-US" sz="2900">
                <a:solidFill>
                  <a:srgbClr val="68764E"/>
                </a:solidFill>
                <a:latin typeface="Canva Sans"/>
                <a:ea typeface="Canva Sans"/>
                <a:cs typeface="Canva Sans"/>
                <a:sym typeface="Canva Sans"/>
              </a:rPr>
              <a:t>ds</a:t>
            </a:r>
          </a:p>
          <a:p>
            <a:pPr algn="ctr" marL="626112" indent="-313056" lvl="1">
              <a:lnSpc>
                <a:spcPts val="4060"/>
              </a:lnSpc>
              <a:buFont typeface="Arial"/>
              <a:buChar char="•"/>
            </a:pPr>
            <a:r>
              <a:rPr lang="en-US" sz="2900">
                <a:solidFill>
                  <a:srgbClr val="68764E"/>
                </a:solidFill>
                <a:latin typeface="Canva Sans"/>
                <a:ea typeface="Canva Sans"/>
                <a:cs typeface="Canva Sans"/>
                <a:sym typeface="Canva Sans"/>
              </a:rPr>
              <a:t>Office workload</a:t>
            </a:r>
          </a:p>
          <a:p>
            <a:pPr algn="ctr" marL="626112" indent="-313056" lvl="1">
              <a:lnSpc>
                <a:spcPts val="4060"/>
              </a:lnSpc>
              <a:buFont typeface="Arial"/>
              <a:buChar char="•"/>
            </a:pPr>
            <a:r>
              <a:rPr lang="en-US" sz="2900">
                <a:solidFill>
                  <a:srgbClr val="68764E"/>
                </a:solidFill>
                <a:latin typeface="Canva Sans"/>
                <a:ea typeface="Canva Sans"/>
                <a:cs typeface="Canva Sans"/>
                <a:sym typeface="Canva Sans"/>
              </a:rPr>
              <a:t>Colleagues sitting all day</a:t>
            </a:r>
          </a:p>
          <a:p>
            <a:pPr algn="ctr" marL="626112" indent="-313056" lvl="1">
              <a:lnSpc>
                <a:spcPts val="4060"/>
              </a:lnSpc>
              <a:buFont typeface="Arial"/>
              <a:buChar char="•"/>
            </a:pPr>
            <a:r>
              <a:rPr lang="en-US" sz="2900">
                <a:solidFill>
                  <a:srgbClr val="68764E"/>
                </a:solidFill>
                <a:latin typeface="Canva Sans"/>
                <a:ea typeface="Canva Sans"/>
                <a:cs typeface="Canva Sans"/>
                <a:sym typeface="Canva Sans"/>
              </a:rPr>
              <a:t>Social media fitness influencers</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55666D"/>
        </a:solidFill>
      </p:bgPr>
    </p:bg>
    <p:spTree>
      <p:nvGrpSpPr>
        <p:cNvPr id="1" name=""/>
        <p:cNvGrpSpPr/>
        <p:nvPr/>
      </p:nvGrpSpPr>
      <p:grpSpPr>
        <a:xfrm>
          <a:off x="0" y="0"/>
          <a:ext cx="0" cy="0"/>
          <a:chOff x="0" y="0"/>
          <a:chExt cx="0" cy="0"/>
        </a:xfrm>
      </p:grpSpPr>
      <p:grpSp>
        <p:nvGrpSpPr>
          <p:cNvPr name="Group 2" id="2"/>
          <p:cNvGrpSpPr/>
          <p:nvPr/>
        </p:nvGrpSpPr>
        <p:grpSpPr>
          <a:xfrm rot="0">
            <a:off x="6254750" y="285750"/>
            <a:ext cx="11747500" cy="7137077"/>
            <a:chOff x="0" y="0"/>
            <a:chExt cx="3093992" cy="1879724"/>
          </a:xfrm>
        </p:grpSpPr>
        <p:sp>
          <p:nvSpPr>
            <p:cNvPr name="Freeform 3" id="3"/>
            <p:cNvSpPr/>
            <p:nvPr/>
          </p:nvSpPr>
          <p:spPr>
            <a:xfrm flipH="false" flipV="false" rot="0">
              <a:off x="0" y="0"/>
              <a:ext cx="3093992" cy="1879724"/>
            </a:xfrm>
            <a:custGeom>
              <a:avLst/>
              <a:gdLst/>
              <a:ahLst/>
              <a:cxnLst/>
              <a:rect r="r" b="b" t="t" l="l"/>
              <a:pathLst>
                <a:path h="1879724" w="3093992">
                  <a:moveTo>
                    <a:pt x="0" y="0"/>
                  </a:moveTo>
                  <a:lnTo>
                    <a:pt x="3093992" y="0"/>
                  </a:lnTo>
                  <a:lnTo>
                    <a:pt x="3093992" y="1879724"/>
                  </a:lnTo>
                  <a:lnTo>
                    <a:pt x="0" y="1879724"/>
                  </a:lnTo>
                  <a:close/>
                </a:path>
              </a:pathLst>
            </a:custGeom>
            <a:solidFill>
              <a:srgbClr val="D9EDB7"/>
            </a:solidFill>
          </p:spPr>
        </p:sp>
        <p:sp>
          <p:nvSpPr>
            <p:cNvPr name="TextBox 4" id="4"/>
            <p:cNvSpPr txBox="true"/>
            <p:nvPr/>
          </p:nvSpPr>
          <p:spPr>
            <a:xfrm>
              <a:off x="0" y="-95250"/>
              <a:ext cx="3093992" cy="197497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6254750" y="285750"/>
            <a:ext cx="5969000" cy="7137077"/>
            <a:chOff x="0" y="0"/>
            <a:chExt cx="1572082" cy="1879724"/>
          </a:xfrm>
        </p:grpSpPr>
        <p:sp>
          <p:nvSpPr>
            <p:cNvPr name="Freeform 6" id="6"/>
            <p:cNvSpPr/>
            <p:nvPr/>
          </p:nvSpPr>
          <p:spPr>
            <a:xfrm flipH="false" flipV="false" rot="0">
              <a:off x="0" y="0"/>
              <a:ext cx="1572082" cy="1879724"/>
            </a:xfrm>
            <a:custGeom>
              <a:avLst/>
              <a:gdLst/>
              <a:ahLst/>
              <a:cxnLst/>
              <a:rect r="r" b="b" t="t" l="l"/>
              <a:pathLst>
                <a:path h="1879724" w="1572082">
                  <a:moveTo>
                    <a:pt x="0" y="0"/>
                  </a:moveTo>
                  <a:lnTo>
                    <a:pt x="1572082" y="0"/>
                  </a:lnTo>
                  <a:lnTo>
                    <a:pt x="1572082" y="1879724"/>
                  </a:lnTo>
                  <a:lnTo>
                    <a:pt x="0" y="1879724"/>
                  </a:lnTo>
                  <a:close/>
                </a:path>
              </a:pathLst>
            </a:custGeom>
            <a:solidFill>
              <a:srgbClr val="080606"/>
            </a:solidFill>
          </p:spPr>
        </p:sp>
        <p:sp>
          <p:nvSpPr>
            <p:cNvPr name="TextBox 7" id="7"/>
            <p:cNvSpPr txBox="true"/>
            <p:nvPr/>
          </p:nvSpPr>
          <p:spPr>
            <a:xfrm>
              <a:off x="0" y="-95250"/>
              <a:ext cx="1572082" cy="197497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6254750" y="5556775"/>
            <a:ext cx="5969000" cy="4444475"/>
            <a:chOff x="0" y="0"/>
            <a:chExt cx="1572082" cy="1170561"/>
          </a:xfrm>
        </p:grpSpPr>
        <p:sp>
          <p:nvSpPr>
            <p:cNvPr name="Freeform 9" id="9"/>
            <p:cNvSpPr/>
            <p:nvPr/>
          </p:nvSpPr>
          <p:spPr>
            <a:xfrm flipH="false" flipV="false" rot="0">
              <a:off x="0" y="0"/>
              <a:ext cx="1572082" cy="1170561"/>
            </a:xfrm>
            <a:custGeom>
              <a:avLst/>
              <a:gdLst/>
              <a:ahLst/>
              <a:cxnLst/>
              <a:rect r="r" b="b" t="t" l="l"/>
              <a:pathLst>
                <a:path h="1170561" w="1572082">
                  <a:moveTo>
                    <a:pt x="0" y="0"/>
                  </a:moveTo>
                  <a:lnTo>
                    <a:pt x="1572082" y="0"/>
                  </a:lnTo>
                  <a:lnTo>
                    <a:pt x="1572082" y="1170561"/>
                  </a:lnTo>
                  <a:lnTo>
                    <a:pt x="0" y="1170561"/>
                  </a:lnTo>
                  <a:close/>
                </a:path>
              </a:pathLst>
            </a:custGeom>
            <a:solidFill>
              <a:srgbClr val="FFFFFF"/>
            </a:solidFill>
          </p:spPr>
        </p:sp>
        <p:sp>
          <p:nvSpPr>
            <p:cNvPr name="TextBox 10" id="10"/>
            <p:cNvSpPr txBox="true"/>
            <p:nvPr/>
          </p:nvSpPr>
          <p:spPr>
            <a:xfrm>
              <a:off x="0" y="-95250"/>
              <a:ext cx="1572082" cy="1265811"/>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2223750" y="5556775"/>
            <a:ext cx="5778500" cy="4444475"/>
            <a:chOff x="0" y="0"/>
            <a:chExt cx="1521909" cy="1170561"/>
          </a:xfrm>
        </p:grpSpPr>
        <p:sp>
          <p:nvSpPr>
            <p:cNvPr name="Freeform 12" id="12"/>
            <p:cNvSpPr/>
            <p:nvPr/>
          </p:nvSpPr>
          <p:spPr>
            <a:xfrm flipH="false" flipV="false" rot="0">
              <a:off x="0" y="0"/>
              <a:ext cx="1521909" cy="1170561"/>
            </a:xfrm>
            <a:custGeom>
              <a:avLst/>
              <a:gdLst/>
              <a:ahLst/>
              <a:cxnLst/>
              <a:rect r="r" b="b" t="t" l="l"/>
              <a:pathLst>
                <a:path h="1170561" w="1521909">
                  <a:moveTo>
                    <a:pt x="0" y="0"/>
                  </a:moveTo>
                  <a:lnTo>
                    <a:pt x="1521909" y="0"/>
                  </a:lnTo>
                  <a:lnTo>
                    <a:pt x="1521909" y="1170561"/>
                  </a:lnTo>
                  <a:lnTo>
                    <a:pt x="0" y="1170561"/>
                  </a:lnTo>
                  <a:close/>
                </a:path>
              </a:pathLst>
            </a:custGeom>
            <a:solidFill>
              <a:srgbClr val="080606"/>
            </a:solidFill>
          </p:spPr>
        </p:sp>
        <p:sp>
          <p:nvSpPr>
            <p:cNvPr name="TextBox 13" id="13"/>
            <p:cNvSpPr txBox="true"/>
            <p:nvPr/>
          </p:nvSpPr>
          <p:spPr>
            <a:xfrm>
              <a:off x="0" y="-95250"/>
              <a:ext cx="1521909" cy="1265811"/>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3025712" y="5914834"/>
            <a:ext cx="3226813" cy="2632710"/>
          </a:xfrm>
          <a:prstGeom prst="rect">
            <a:avLst/>
          </a:prstGeom>
        </p:spPr>
        <p:txBody>
          <a:bodyPr anchor="t" rtlCol="false" tIns="0" lIns="0" bIns="0" rIns="0">
            <a:spAutoFit/>
          </a:bodyPr>
          <a:lstStyle/>
          <a:p>
            <a:pPr algn="l">
              <a:lnSpc>
                <a:spcPts val="5219"/>
              </a:lnSpc>
            </a:pPr>
            <a:r>
              <a:rPr lang="en-US" b="true" sz="4499" spc="-305">
                <a:solidFill>
                  <a:srgbClr val="D9EDB7"/>
                </a:solidFill>
                <a:latin typeface="Antonio Bold"/>
                <a:ea typeface="Antonio Bold"/>
                <a:cs typeface="Antonio Bold"/>
                <a:sym typeface="Antonio Bold"/>
              </a:rPr>
              <a:t>PAIN POINT 4</a:t>
            </a:r>
          </a:p>
          <a:p>
            <a:pPr algn="l">
              <a:lnSpc>
                <a:spcPts val="5219"/>
              </a:lnSpc>
            </a:pPr>
          </a:p>
          <a:p>
            <a:pPr algn="l" marL="0" indent="0" lvl="0">
              <a:lnSpc>
                <a:spcPts val="5219"/>
              </a:lnSpc>
              <a:spcBef>
                <a:spcPct val="0"/>
              </a:spcBef>
            </a:pPr>
            <a:r>
              <a:rPr lang="en-US" b="true" sz="4499" spc="-305">
                <a:solidFill>
                  <a:srgbClr val="D9EDB7"/>
                </a:solidFill>
                <a:latin typeface="Antonio Bold"/>
                <a:ea typeface="Antonio Bold"/>
                <a:cs typeface="Antonio Bold"/>
                <a:sym typeface="Antonio Bold"/>
              </a:rPr>
              <a:t>SEDENTARY LIFESTYLE:</a:t>
            </a:r>
          </a:p>
        </p:txBody>
      </p:sp>
      <p:sp>
        <p:nvSpPr>
          <p:cNvPr name="TextBox 15" id="15"/>
          <p:cNvSpPr txBox="true"/>
          <p:nvPr/>
        </p:nvSpPr>
        <p:spPr>
          <a:xfrm rot="0">
            <a:off x="6807591" y="906276"/>
            <a:ext cx="3684939" cy="1975485"/>
          </a:xfrm>
          <a:prstGeom prst="rect">
            <a:avLst/>
          </a:prstGeom>
        </p:spPr>
        <p:txBody>
          <a:bodyPr anchor="t" rtlCol="false" tIns="0" lIns="0" bIns="0" rIns="0">
            <a:spAutoFit/>
          </a:bodyPr>
          <a:lstStyle/>
          <a:p>
            <a:pPr algn="l">
              <a:lnSpc>
                <a:spcPts val="5219"/>
              </a:lnSpc>
            </a:pPr>
            <a:r>
              <a:rPr lang="en-US" b="true" sz="4499" spc="-305">
                <a:solidFill>
                  <a:srgbClr val="D9EDB7"/>
                </a:solidFill>
                <a:latin typeface="Antonio Bold"/>
                <a:ea typeface="Antonio Bold"/>
                <a:cs typeface="Antonio Bold"/>
                <a:sym typeface="Antonio Bold"/>
              </a:rPr>
              <a:t>PAIN POINT 1</a:t>
            </a:r>
          </a:p>
          <a:p>
            <a:pPr algn="l">
              <a:lnSpc>
                <a:spcPts val="5219"/>
              </a:lnSpc>
            </a:pPr>
          </a:p>
          <a:p>
            <a:pPr algn="l" marL="0" indent="0" lvl="0">
              <a:lnSpc>
                <a:spcPts val="5219"/>
              </a:lnSpc>
              <a:spcBef>
                <a:spcPct val="0"/>
              </a:spcBef>
            </a:pPr>
            <a:r>
              <a:rPr lang="en-US" b="true" sz="4499" spc="-305">
                <a:solidFill>
                  <a:srgbClr val="D9EDB7"/>
                </a:solidFill>
                <a:latin typeface="Antonio Bold"/>
                <a:ea typeface="Antonio Bold"/>
                <a:cs typeface="Antonio Bold"/>
                <a:sym typeface="Antonio Bold"/>
              </a:rPr>
              <a:t>LACK OF TIME:</a:t>
            </a:r>
          </a:p>
        </p:txBody>
      </p:sp>
      <p:sp>
        <p:nvSpPr>
          <p:cNvPr name="TextBox 16" id="16"/>
          <p:cNvSpPr txBox="true"/>
          <p:nvPr/>
        </p:nvSpPr>
        <p:spPr>
          <a:xfrm rot="0">
            <a:off x="13025712" y="906276"/>
            <a:ext cx="3226813" cy="2632710"/>
          </a:xfrm>
          <a:prstGeom prst="rect">
            <a:avLst/>
          </a:prstGeom>
        </p:spPr>
        <p:txBody>
          <a:bodyPr anchor="t" rtlCol="false" tIns="0" lIns="0" bIns="0" rIns="0">
            <a:spAutoFit/>
          </a:bodyPr>
          <a:lstStyle/>
          <a:p>
            <a:pPr algn="l">
              <a:lnSpc>
                <a:spcPts val="5219"/>
              </a:lnSpc>
            </a:pPr>
            <a:r>
              <a:rPr lang="en-US" b="true" sz="4499" spc="-305">
                <a:solidFill>
                  <a:srgbClr val="55666D"/>
                </a:solidFill>
                <a:latin typeface="Antonio Bold"/>
                <a:ea typeface="Antonio Bold"/>
                <a:cs typeface="Antonio Bold"/>
                <a:sym typeface="Antonio Bold"/>
              </a:rPr>
              <a:t>PAIN POINT 2</a:t>
            </a:r>
          </a:p>
          <a:p>
            <a:pPr algn="l">
              <a:lnSpc>
                <a:spcPts val="5219"/>
              </a:lnSpc>
            </a:pPr>
          </a:p>
          <a:p>
            <a:pPr algn="l" marL="0" indent="0" lvl="0">
              <a:lnSpc>
                <a:spcPts val="5219"/>
              </a:lnSpc>
              <a:spcBef>
                <a:spcPct val="0"/>
              </a:spcBef>
            </a:pPr>
            <a:r>
              <a:rPr lang="en-US" b="true" sz="4499" spc="-305">
                <a:solidFill>
                  <a:srgbClr val="55666D"/>
                </a:solidFill>
                <a:latin typeface="Antonio Bold"/>
                <a:ea typeface="Antonio Bold"/>
                <a:cs typeface="Antonio Bold"/>
                <a:sym typeface="Antonio Bold"/>
              </a:rPr>
              <a:t>MENTAL EXHAUSTION:</a:t>
            </a:r>
          </a:p>
        </p:txBody>
      </p:sp>
      <p:sp>
        <p:nvSpPr>
          <p:cNvPr name="TextBox 17" id="17"/>
          <p:cNvSpPr txBox="true"/>
          <p:nvPr/>
        </p:nvSpPr>
        <p:spPr>
          <a:xfrm rot="0">
            <a:off x="12558665" y="8838565"/>
            <a:ext cx="5108671" cy="868045"/>
          </a:xfrm>
          <a:prstGeom prst="rect">
            <a:avLst/>
          </a:prstGeom>
        </p:spPr>
        <p:txBody>
          <a:bodyPr anchor="t" rtlCol="false" tIns="0" lIns="0" bIns="0" rIns="0">
            <a:spAutoFit/>
          </a:bodyPr>
          <a:lstStyle/>
          <a:p>
            <a:pPr algn="l" marL="0" indent="0" lvl="0">
              <a:lnSpc>
                <a:spcPts val="3410"/>
              </a:lnSpc>
            </a:pPr>
            <a:r>
              <a:rPr lang="en-US" sz="3100">
                <a:solidFill>
                  <a:srgbClr val="D9EDB7"/>
                </a:solidFill>
                <a:latin typeface="Canva Sans"/>
                <a:ea typeface="Canva Sans"/>
                <a:cs typeface="Canva Sans"/>
                <a:sym typeface="Canva Sans"/>
              </a:rPr>
              <a:t>Long sitting hours cause fatigue and body pain.</a:t>
            </a:r>
          </a:p>
        </p:txBody>
      </p:sp>
      <p:sp>
        <p:nvSpPr>
          <p:cNvPr name="TextBox 18" id="18"/>
          <p:cNvSpPr txBox="true"/>
          <p:nvPr/>
        </p:nvSpPr>
        <p:spPr>
          <a:xfrm rot="0">
            <a:off x="-290142" y="2155667"/>
            <a:ext cx="6544892" cy="6239669"/>
          </a:xfrm>
          <a:prstGeom prst="rect">
            <a:avLst/>
          </a:prstGeom>
        </p:spPr>
        <p:txBody>
          <a:bodyPr anchor="t" rtlCol="false" tIns="0" lIns="0" bIns="0" rIns="0">
            <a:spAutoFit/>
          </a:bodyPr>
          <a:lstStyle/>
          <a:p>
            <a:pPr algn="ctr">
              <a:lnSpc>
                <a:spcPts val="12462"/>
              </a:lnSpc>
            </a:pPr>
            <a:r>
              <a:rPr lang="en-US" sz="8901" b="true">
                <a:solidFill>
                  <a:srgbClr val="D9EDB7"/>
                </a:solidFill>
                <a:latin typeface="Canva Sans Bold"/>
                <a:ea typeface="Canva Sans Bold"/>
                <a:cs typeface="Canva Sans Bold"/>
                <a:sym typeface="Canva Sans Bold"/>
              </a:rPr>
              <a:t>Key </a:t>
            </a:r>
          </a:p>
          <a:p>
            <a:pPr algn="ctr">
              <a:lnSpc>
                <a:spcPts val="12462"/>
              </a:lnSpc>
            </a:pPr>
            <a:r>
              <a:rPr lang="en-US" sz="8901" b="true">
                <a:solidFill>
                  <a:srgbClr val="D9EDB7"/>
                </a:solidFill>
                <a:latin typeface="Canva Sans Bold"/>
                <a:ea typeface="Canva Sans Bold"/>
                <a:cs typeface="Canva Sans Bold"/>
                <a:sym typeface="Canva Sans Bold"/>
              </a:rPr>
              <a:t>User </a:t>
            </a:r>
          </a:p>
          <a:p>
            <a:pPr algn="ctr">
              <a:lnSpc>
                <a:spcPts val="12462"/>
              </a:lnSpc>
            </a:pPr>
            <a:r>
              <a:rPr lang="en-US" sz="8901" b="true">
                <a:solidFill>
                  <a:srgbClr val="D9EDB7"/>
                </a:solidFill>
                <a:latin typeface="Canva Sans Bold"/>
                <a:ea typeface="Canva Sans Bold"/>
                <a:cs typeface="Canva Sans Bold"/>
                <a:sym typeface="Canva Sans Bold"/>
              </a:rPr>
              <a:t>Pain</a:t>
            </a:r>
            <a:r>
              <a:rPr lang="en-US" b="true" sz="8901">
                <a:solidFill>
                  <a:srgbClr val="D9EDB7"/>
                </a:solidFill>
                <a:latin typeface="Canva Sans Bold"/>
                <a:ea typeface="Canva Sans Bold"/>
                <a:cs typeface="Canva Sans Bold"/>
                <a:sym typeface="Canva Sans Bold"/>
              </a:rPr>
              <a:t> </a:t>
            </a:r>
          </a:p>
          <a:p>
            <a:pPr algn="ctr">
              <a:lnSpc>
                <a:spcPts val="12462"/>
              </a:lnSpc>
            </a:pPr>
            <a:r>
              <a:rPr lang="en-US" b="true" sz="8901">
                <a:solidFill>
                  <a:srgbClr val="D9EDB7"/>
                </a:solidFill>
                <a:latin typeface="Canva Sans Bold"/>
                <a:ea typeface="Canva Sans Bold"/>
                <a:cs typeface="Canva Sans Bold"/>
                <a:sym typeface="Canva Sans Bold"/>
              </a:rPr>
              <a:t>Points</a:t>
            </a:r>
          </a:p>
        </p:txBody>
      </p:sp>
      <p:sp>
        <p:nvSpPr>
          <p:cNvPr name="TextBox 19" id="19"/>
          <p:cNvSpPr txBox="true"/>
          <p:nvPr/>
        </p:nvSpPr>
        <p:spPr>
          <a:xfrm rot="0">
            <a:off x="6878227" y="3856008"/>
            <a:ext cx="4350097" cy="1064260"/>
          </a:xfrm>
          <a:prstGeom prst="rect">
            <a:avLst/>
          </a:prstGeom>
        </p:spPr>
        <p:txBody>
          <a:bodyPr anchor="t" rtlCol="false" tIns="0" lIns="0" bIns="0" rIns="0">
            <a:spAutoFit/>
          </a:bodyPr>
          <a:lstStyle/>
          <a:p>
            <a:pPr algn="l">
              <a:lnSpc>
                <a:spcPts val="4340"/>
              </a:lnSpc>
            </a:pPr>
            <a:r>
              <a:rPr lang="en-US" sz="3100">
                <a:solidFill>
                  <a:srgbClr val="D9EDB7"/>
                </a:solidFill>
                <a:latin typeface="Canva Sans"/>
                <a:ea typeface="Canva Sans"/>
                <a:cs typeface="Canva Sans"/>
                <a:sym typeface="Canva Sans"/>
              </a:rPr>
              <a:t>U</a:t>
            </a:r>
            <a:r>
              <a:rPr lang="en-US" sz="3100">
                <a:solidFill>
                  <a:srgbClr val="D9EDB7"/>
                </a:solidFill>
                <a:latin typeface="Canva Sans"/>
                <a:ea typeface="Canva Sans"/>
                <a:cs typeface="Canva Sans"/>
                <a:sym typeface="Canva Sans"/>
              </a:rPr>
              <a:t>s</a:t>
            </a:r>
            <a:r>
              <a:rPr lang="en-US" sz="3100">
                <a:solidFill>
                  <a:srgbClr val="D9EDB7"/>
                </a:solidFill>
                <a:latin typeface="Canva Sans"/>
                <a:ea typeface="Canva Sans"/>
                <a:cs typeface="Canva Sans"/>
                <a:sym typeface="Canva Sans"/>
              </a:rPr>
              <a:t>ers cannot dedicate </a:t>
            </a:r>
          </a:p>
          <a:p>
            <a:pPr algn="l">
              <a:lnSpc>
                <a:spcPts val="4340"/>
              </a:lnSpc>
            </a:pPr>
            <a:r>
              <a:rPr lang="en-US" sz="3100">
                <a:solidFill>
                  <a:srgbClr val="D9EDB7"/>
                </a:solidFill>
                <a:latin typeface="Canva Sans"/>
                <a:ea typeface="Canva Sans"/>
                <a:cs typeface="Canva Sans"/>
                <a:sym typeface="Canva Sans"/>
              </a:rPr>
              <a:t>long hours to exercise.</a:t>
            </a:r>
          </a:p>
        </p:txBody>
      </p:sp>
      <p:sp>
        <p:nvSpPr>
          <p:cNvPr name="TextBox 20" id="20"/>
          <p:cNvSpPr txBox="true"/>
          <p:nvPr/>
        </p:nvSpPr>
        <p:spPr>
          <a:xfrm rot="0">
            <a:off x="12558665" y="3797138"/>
            <a:ext cx="5235206" cy="1064260"/>
          </a:xfrm>
          <a:prstGeom prst="rect">
            <a:avLst/>
          </a:prstGeom>
        </p:spPr>
        <p:txBody>
          <a:bodyPr anchor="t" rtlCol="false" tIns="0" lIns="0" bIns="0" rIns="0">
            <a:spAutoFit/>
          </a:bodyPr>
          <a:lstStyle/>
          <a:p>
            <a:pPr algn="ctr">
              <a:lnSpc>
                <a:spcPts val="4340"/>
              </a:lnSpc>
            </a:pPr>
            <a:r>
              <a:rPr lang="en-US" sz="3100">
                <a:solidFill>
                  <a:srgbClr val="000000"/>
                </a:solidFill>
                <a:latin typeface="Canva Sans"/>
                <a:ea typeface="Canva Sans"/>
                <a:cs typeface="Canva Sans"/>
                <a:sym typeface="Canva Sans"/>
              </a:rPr>
              <a:t>Work s</a:t>
            </a:r>
            <a:r>
              <a:rPr lang="en-US" sz="3100">
                <a:solidFill>
                  <a:srgbClr val="000000"/>
                </a:solidFill>
                <a:latin typeface="Canva Sans"/>
                <a:ea typeface="Canva Sans"/>
                <a:cs typeface="Canva Sans"/>
                <a:sym typeface="Canva Sans"/>
              </a:rPr>
              <a:t>tress reduces motivation.</a:t>
            </a:r>
          </a:p>
        </p:txBody>
      </p:sp>
      <p:sp>
        <p:nvSpPr>
          <p:cNvPr name="TextBox 21" id="21"/>
          <p:cNvSpPr txBox="true"/>
          <p:nvPr/>
        </p:nvSpPr>
        <p:spPr>
          <a:xfrm rot="0">
            <a:off x="6423317" y="5819584"/>
            <a:ext cx="3881289" cy="2362200"/>
          </a:xfrm>
          <a:prstGeom prst="rect">
            <a:avLst/>
          </a:prstGeom>
        </p:spPr>
        <p:txBody>
          <a:bodyPr anchor="t" rtlCol="false" tIns="0" lIns="0" bIns="0" rIns="0">
            <a:spAutoFit/>
          </a:bodyPr>
          <a:lstStyle/>
          <a:p>
            <a:pPr algn="ctr">
              <a:lnSpc>
                <a:spcPts val="6299"/>
              </a:lnSpc>
            </a:pPr>
            <a:r>
              <a:rPr lang="en-US" b="true" sz="4500">
                <a:solidFill>
                  <a:srgbClr val="9AA882"/>
                </a:solidFill>
                <a:latin typeface="Antonio Bold"/>
                <a:ea typeface="Antonio Bold"/>
                <a:cs typeface="Antonio Bold"/>
                <a:sym typeface="Antonio Bold"/>
              </a:rPr>
              <a:t>Pain Point 3</a:t>
            </a:r>
          </a:p>
          <a:p>
            <a:pPr algn="ctr">
              <a:lnSpc>
                <a:spcPts val="6299"/>
              </a:lnSpc>
            </a:pPr>
          </a:p>
          <a:p>
            <a:pPr algn="ctr">
              <a:lnSpc>
                <a:spcPts val="6299"/>
              </a:lnSpc>
            </a:pPr>
            <a:r>
              <a:rPr lang="en-US" b="true" sz="4500">
                <a:solidFill>
                  <a:srgbClr val="9AA882"/>
                </a:solidFill>
                <a:latin typeface="Antonio Bold"/>
                <a:ea typeface="Antonio Bold"/>
                <a:cs typeface="Antonio Bold"/>
                <a:sym typeface="Antonio Bold"/>
              </a:rPr>
              <a:t>Low Consistency:</a:t>
            </a:r>
            <a:r>
              <a:rPr lang="en-US" b="true" sz="4500">
                <a:solidFill>
                  <a:srgbClr val="9AA882"/>
                </a:solidFill>
                <a:latin typeface="Antonio Bold"/>
                <a:ea typeface="Antonio Bold"/>
                <a:cs typeface="Antonio Bold"/>
                <a:sym typeface="Antonio Bold"/>
              </a:rPr>
              <a:t> </a:t>
            </a:r>
          </a:p>
        </p:txBody>
      </p:sp>
      <p:sp>
        <p:nvSpPr>
          <p:cNvPr name="TextBox 22" id="22"/>
          <p:cNvSpPr txBox="true"/>
          <p:nvPr/>
        </p:nvSpPr>
        <p:spPr>
          <a:xfrm rot="0">
            <a:off x="6577781" y="8681906"/>
            <a:ext cx="4950988" cy="1054735"/>
          </a:xfrm>
          <a:prstGeom prst="rect">
            <a:avLst/>
          </a:prstGeom>
        </p:spPr>
        <p:txBody>
          <a:bodyPr anchor="t" rtlCol="false" tIns="0" lIns="0" bIns="0" rIns="0">
            <a:spAutoFit/>
          </a:bodyPr>
          <a:lstStyle/>
          <a:p>
            <a:pPr algn="ctr">
              <a:lnSpc>
                <a:spcPts val="4339"/>
              </a:lnSpc>
            </a:pPr>
            <a:r>
              <a:rPr lang="en-US" sz="3099">
                <a:solidFill>
                  <a:srgbClr val="68764E"/>
                </a:solidFill>
                <a:latin typeface="Canva Sans"/>
                <a:ea typeface="Canva Sans"/>
                <a:cs typeface="Canva Sans"/>
                <a:sym typeface="Canva Sans"/>
              </a:rPr>
              <a:t>Busy routines interrupt workout habits.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2033250" cy="10287000"/>
            <a:chOff x="0" y="0"/>
            <a:chExt cx="16044333" cy="13716000"/>
          </a:xfrm>
        </p:grpSpPr>
        <p:pic>
          <p:nvPicPr>
            <p:cNvPr name="Picture 3" id="3"/>
            <p:cNvPicPr>
              <a:picLocks noChangeAspect="true"/>
            </p:cNvPicPr>
            <p:nvPr/>
          </p:nvPicPr>
          <p:blipFill>
            <a:blip r:embed="rId2"/>
            <a:srcRect l="10959" t="0" r="10959" b="0"/>
            <a:stretch>
              <a:fillRect/>
            </a:stretch>
          </p:blipFill>
          <p:spPr>
            <a:xfrm flipH="false" flipV="false">
              <a:off x="0" y="0"/>
              <a:ext cx="16044333" cy="13716000"/>
            </a:xfrm>
            <a:prstGeom prst="rect">
              <a:avLst/>
            </a:prstGeom>
          </p:spPr>
        </p:pic>
      </p:grpSp>
      <p:sp>
        <p:nvSpPr>
          <p:cNvPr name="TextBox 4" id="4"/>
          <p:cNvSpPr txBox="true"/>
          <p:nvPr/>
        </p:nvSpPr>
        <p:spPr>
          <a:xfrm rot="0">
            <a:off x="3638703" y="512608"/>
            <a:ext cx="9457901" cy="1773972"/>
          </a:xfrm>
          <a:prstGeom prst="rect">
            <a:avLst/>
          </a:prstGeom>
        </p:spPr>
        <p:txBody>
          <a:bodyPr anchor="t" rtlCol="false" tIns="0" lIns="0" bIns="0" rIns="0">
            <a:spAutoFit/>
          </a:bodyPr>
          <a:lstStyle/>
          <a:p>
            <a:pPr algn="r">
              <a:lnSpc>
                <a:spcPts val="14572"/>
              </a:lnSpc>
              <a:spcBef>
                <a:spcPct val="0"/>
              </a:spcBef>
            </a:pPr>
            <a:r>
              <a:rPr lang="en-US" b="true" sz="10408" spc="-874">
                <a:solidFill>
                  <a:srgbClr val="080606"/>
                </a:solidFill>
                <a:latin typeface="Antonio Bold"/>
                <a:ea typeface="Antonio Bold"/>
                <a:cs typeface="Antonio Bold"/>
                <a:sym typeface="Antonio Bold"/>
              </a:rPr>
              <a:t>UX </a:t>
            </a:r>
          </a:p>
        </p:txBody>
      </p:sp>
      <p:sp>
        <p:nvSpPr>
          <p:cNvPr name="TextBox 5" id="5"/>
          <p:cNvSpPr txBox="true"/>
          <p:nvPr/>
        </p:nvSpPr>
        <p:spPr>
          <a:xfrm rot="0">
            <a:off x="3638703" y="2937040"/>
            <a:ext cx="9457901" cy="1773972"/>
          </a:xfrm>
          <a:prstGeom prst="rect">
            <a:avLst/>
          </a:prstGeom>
        </p:spPr>
        <p:txBody>
          <a:bodyPr anchor="t" rtlCol="false" tIns="0" lIns="0" bIns="0" rIns="0">
            <a:spAutoFit/>
          </a:bodyPr>
          <a:lstStyle/>
          <a:p>
            <a:pPr algn="r">
              <a:lnSpc>
                <a:spcPts val="14572"/>
              </a:lnSpc>
              <a:spcBef>
                <a:spcPct val="0"/>
              </a:spcBef>
            </a:pPr>
            <a:r>
              <a:rPr lang="en-US" b="true" sz="10408" spc="-874">
                <a:solidFill>
                  <a:srgbClr val="080606"/>
                </a:solidFill>
                <a:latin typeface="Antonio Bold"/>
                <a:ea typeface="Antonio Bold"/>
                <a:cs typeface="Antonio Bold"/>
                <a:sym typeface="Antonio Bold"/>
              </a:rPr>
              <a:t>OPPORTUNITIES</a:t>
            </a:r>
          </a:p>
        </p:txBody>
      </p:sp>
      <p:sp>
        <p:nvSpPr>
          <p:cNvPr name="TextBox 6" id="6"/>
          <p:cNvSpPr txBox="true"/>
          <p:nvPr/>
        </p:nvSpPr>
        <p:spPr>
          <a:xfrm rot="0">
            <a:off x="11856393" y="4906010"/>
            <a:ext cx="6431607" cy="5380990"/>
          </a:xfrm>
          <a:prstGeom prst="rect">
            <a:avLst/>
          </a:prstGeom>
        </p:spPr>
        <p:txBody>
          <a:bodyPr anchor="t" rtlCol="false" tIns="0" lIns="0" bIns="0" rIns="0">
            <a:spAutoFit/>
          </a:bodyPr>
          <a:lstStyle/>
          <a:p>
            <a:pPr algn="ctr">
              <a:lnSpc>
                <a:spcPts val="4759"/>
              </a:lnSpc>
            </a:pPr>
            <a:r>
              <a:rPr lang="en-US" sz="3399">
                <a:solidFill>
                  <a:srgbClr val="080606"/>
                </a:solidFill>
                <a:latin typeface="Canva Sans"/>
                <a:ea typeface="Canva Sans"/>
                <a:cs typeface="Canva Sans"/>
                <a:sym typeface="Canva Sans"/>
              </a:rPr>
              <a:t>The app should include:</a:t>
            </a:r>
          </a:p>
          <a:p>
            <a:pPr algn="l" marL="734059" indent="-367030" lvl="1">
              <a:lnSpc>
                <a:spcPts val="4759"/>
              </a:lnSpc>
              <a:buFont typeface="Arial"/>
              <a:buChar char="•"/>
            </a:pPr>
            <a:r>
              <a:rPr lang="en-US" sz="3399">
                <a:solidFill>
                  <a:srgbClr val="080606"/>
                </a:solidFill>
                <a:latin typeface="Canva Sans"/>
                <a:ea typeface="Canva Sans"/>
                <a:cs typeface="Canva Sans"/>
                <a:sym typeface="Canva Sans"/>
              </a:rPr>
              <a:t>5–15 minute workouts</a:t>
            </a:r>
          </a:p>
          <a:p>
            <a:pPr algn="l" marL="734059" indent="-367030" lvl="1">
              <a:lnSpc>
                <a:spcPts val="4759"/>
              </a:lnSpc>
              <a:buFont typeface="Arial"/>
              <a:buChar char="•"/>
            </a:pPr>
            <a:r>
              <a:rPr lang="en-US" sz="3399">
                <a:solidFill>
                  <a:srgbClr val="080606"/>
                </a:solidFill>
                <a:latin typeface="Canva Sans"/>
                <a:ea typeface="Canva Sans"/>
                <a:cs typeface="Canva Sans"/>
                <a:sym typeface="Canva Sans"/>
              </a:rPr>
              <a:t>Smart reminders</a:t>
            </a:r>
          </a:p>
          <a:p>
            <a:pPr algn="l" marL="734059" indent="-367030" lvl="1">
              <a:lnSpc>
                <a:spcPts val="4759"/>
              </a:lnSpc>
              <a:buFont typeface="Arial"/>
              <a:buChar char="•"/>
            </a:pPr>
            <a:r>
              <a:rPr lang="en-US" sz="3399">
                <a:solidFill>
                  <a:srgbClr val="080606"/>
                </a:solidFill>
                <a:latin typeface="Canva Sans"/>
                <a:ea typeface="Canva Sans"/>
                <a:cs typeface="Canva Sans"/>
                <a:sym typeface="Canva Sans"/>
              </a:rPr>
              <a:t>Office stretch exercises</a:t>
            </a:r>
          </a:p>
          <a:p>
            <a:pPr algn="l" marL="734059" indent="-367030" lvl="1">
              <a:lnSpc>
                <a:spcPts val="4759"/>
              </a:lnSpc>
              <a:buFont typeface="Arial"/>
              <a:buChar char="•"/>
            </a:pPr>
            <a:r>
              <a:rPr lang="en-US" sz="3399">
                <a:solidFill>
                  <a:srgbClr val="080606"/>
                </a:solidFill>
                <a:latin typeface="Canva Sans"/>
                <a:ea typeface="Canva Sans"/>
                <a:cs typeface="Canva Sans"/>
                <a:sym typeface="Canva Sans"/>
              </a:rPr>
              <a:t>Beginner-friendly UI</a:t>
            </a:r>
          </a:p>
          <a:p>
            <a:pPr algn="ctr" marL="734059" indent="-367030" lvl="1">
              <a:lnSpc>
                <a:spcPts val="4759"/>
              </a:lnSpc>
              <a:buFont typeface="Arial"/>
              <a:buChar char="•"/>
            </a:pPr>
            <a:r>
              <a:rPr lang="en-US" sz="3399">
                <a:solidFill>
                  <a:srgbClr val="080606"/>
                </a:solidFill>
                <a:latin typeface="Canva Sans"/>
                <a:ea typeface="Canva Sans"/>
                <a:cs typeface="Canva Sans"/>
                <a:sym typeface="Canva Sans"/>
              </a:rPr>
              <a:t>Personalized workout plans</a:t>
            </a:r>
          </a:p>
          <a:p>
            <a:pPr algn="l" marL="734059" indent="-367030" lvl="1">
              <a:lnSpc>
                <a:spcPts val="4759"/>
              </a:lnSpc>
              <a:buFont typeface="Arial"/>
              <a:buChar char="•"/>
            </a:pPr>
            <a:r>
              <a:rPr lang="en-US" sz="3399">
                <a:solidFill>
                  <a:srgbClr val="080606"/>
                </a:solidFill>
                <a:latin typeface="Canva Sans"/>
                <a:ea typeface="Canva Sans"/>
                <a:cs typeface="Canva Sans"/>
                <a:sym typeface="Canva Sans"/>
              </a:rPr>
              <a:t>Progress tracking</a:t>
            </a:r>
          </a:p>
          <a:p>
            <a:pPr algn="l" marL="734059" indent="-367030" lvl="1">
              <a:lnSpc>
                <a:spcPts val="4759"/>
              </a:lnSpc>
              <a:buFont typeface="Arial"/>
              <a:buChar char="•"/>
            </a:pPr>
            <a:r>
              <a:rPr lang="en-US" sz="3399">
                <a:solidFill>
                  <a:srgbClr val="080606"/>
                </a:solidFill>
                <a:latin typeface="Canva Sans"/>
                <a:ea typeface="Canva Sans"/>
                <a:cs typeface="Canva Sans"/>
                <a:sym typeface="Canva Sans"/>
              </a:rPr>
              <a:t>Motivation rewards</a:t>
            </a:r>
          </a:p>
          <a:p>
            <a:pPr algn="ctr">
              <a:lnSpc>
                <a:spcPts val="475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85750" y="1137227"/>
            <a:ext cx="7295234" cy="1202835"/>
          </a:xfrm>
          <a:prstGeom prst="rect">
            <a:avLst/>
          </a:prstGeom>
        </p:spPr>
        <p:txBody>
          <a:bodyPr anchor="t" rtlCol="false" tIns="0" lIns="0" bIns="0" rIns="0">
            <a:spAutoFit/>
          </a:bodyPr>
          <a:lstStyle/>
          <a:p>
            <a:pPr algn="l">
              <a:lnSpc>
                <a:spcPts val="9313"/>
              </a:lnSpc>
            </a:pPr>
            <a:r>
              <a:rPr lang="en-US" b="true" sz="8028" spc="-674">
                <a:solidFill>
                  <a:srgbClr val="080606"/>
                </a:solidFill>
                <a:latin typeface="Antonio Bold"/>
                <a:ea typeface="Antonio Bold"/>
                <a:cs typeface="Antonio Bold"/>
                <a:sym typeface="Antonio Bold"/>
              </a:rPr>
              <a:t>CONCLUSION</a:t>
            </a:r>
          </a:p>
        </p:txBody>
      </p:sp>
      <p:grpSp>
        <p:nvGrpSpPr>
          <p:cNvPr name="Group 3" id="3"/>
          <p:cNvGrpSpPr/>
          <p:nvPr/>
        </p:nvGrpSpPr>
        <p:grpSpPr>
          <a:xfrm rot="0">
            <a:off x="10910674" y="0"/>
            <a:ext cx="7091576" cy="10287000"/>
            <a:chOff x="0" y="0"/>
            <a:chExt cx="9455434" cy="13716000"/>
          </a:xfrm>
        </p:grpSpPr>
        <p:pic>
          <p:nvPicPr>
            <p:cNvPr name="Picture 4" id="4"/>
            <p:cNvPicPr>
              <a:picLocks noChangeAspect="true"/>
            </p:cNvPicPr>
            <p:nvPr/>
          </p:nvPicPr>
          <p:blipFill>
            <a:blip r:embed="rId2"/>
            <a:srcRect l="0" t="1586" r="0" b="1586"/>
            <a:stretch>
              <a:fillRect/>
            </a:stretch>
          </p:blipFill>
          <p:spPr>
            <a:xfrm flipH="false" flipV="false">
              <a:off x="0" y="0"/>
              <a:ext cx="9455434" cy="13716000"/>
            </a:xfrm>
            <a:prstGeom prst="rect">
              <a:avLst/>
            </a:prstGeom>
          </p:spPr>
        </p:pic>
      </p:grpSp>
      <p:sp>
        <p:nvSpPr>
          <p:cNvPr name="Freeform 5" id="5"/>
          <p:cNvSpPr/>
          <p:nvPr/>
        </p:nvSpPr>
        <p:spPr>
          <a:xfrm flipH="false" flipV="false" rot="-5400000">
            <a:off x="13408506" y="6027425"/>
            <a:ext cx="6478357" cy="2709131"/>
          </a:xfrm>
          <a:custGeom>
            <a:avLst/>
            <a:gdLst/>
            <a:ahLst/>
            <a:cxnLst/>
            <a:rect r="r" b="b" t="t" l="l"/>
            <a:pathLst>
              <a:path h="2709131" w="6478357">
                <a:moveTo>
                  <a:pt x="0" y="0"/>
                </a:moveTo>
                <a:lnTo>
                  <a:pt x="6478357" y="0"/>
                </a:lnTo>
                <a:lnTo>
                  <a:pt x="6478357" y="2709131"/>
                </a:lnTo>
                <a:lnTo>
                  <a:pt x="0" y="27091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285750" y="4698481"/>
            <a:ext cx="10684525" cy="2683510"/>
          </a:xfrm>
          <a:prstGeom prst="rect">
            <a:avLst/>
          </a:prstGeom>
        </p:spPr>
        <p:txBody>
          <a:bodyPr anchor="t" rtlCol="false" tIns="0" lIns="0" bIns="0" rIns="0">
            <a:spAutoFit/>
          </a:bodyPr>
          <a:lstStyle/>
          <a:p>
            <a:pPr algn="l">
              <a:lnSpc>
                <a:spcPts val="4339"/>
              </a:lnSpc>
            </a:pPr>
            <a:r>
              <a:rPr lang="en-US" sz="3099">
                <a:solidFill>
                  <a:srgbClr val="080606"/>
                </a:solidFill>
                <a:latin typeface="Canva Sans"/>
                <a:ea typeface="Canva Sans"/>
                <a:cs typeface="Canva Sans"/>
                <a:sym typeface="Canva Sans"/>
              </a:rPr>
              <a:t>This UX</a:t>
            </a:r>
            <a:r>
              <a:rPr lang="en-US" sz="3099">
                <a:solidFill>
                  <a:srgbClr val="080606"/>
                </a:solidFill>
                <a:latin typeface="Canva Sans"/>
                <a:ea typeface="Canva Sans"/>
                <a:cs typeface="Canva Sans"/>
                <a:sym typeface="Canva Sans"/>
              </a:rPr>
              <a:t> research helps the startup understand the real needs, emotions, and behaviors of busy professionals before designing the application. The empathy map ensures the product is user-centered, practical, and easy to 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DAHJvIBuhD4</dc:identifier>
  <dcterms:modified xsi:type="dcterms:W3CDTF">2011-08-01T06:04:30Z</dcterms:modified>
  <cp:revision>1</cp:revision>
  <dc:title>The Empathy Map</dc:title>
</cp:coreProperties>
</file>